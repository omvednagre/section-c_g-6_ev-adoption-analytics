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 Italics" charset="1" panose="020F05020202040A0204"/>
      <p:regular r:id="rId19"/>
    </p:embeddedFont>
    <p:embeddedFont>
      <p:font typeface="Calibri (MS)" charset="1" panose="020F0502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2960" cy="10287000"/>
            <a:chOff x="0" y="0"/>
            <a:chExt cx="10972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2203" y="1732283"/>
            <a:ext cx="16652243" cy="10163"/>
            <a:chOff x="0" y="0"/>
            <a:chExt cx="22202991" cy="135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731" y="0"/>
              <a:ext cx="22189440" cy="13589"/>
            </a:xfrm>
            <a:custGeom>
              <a:avLst/>
              <a:gdLst/>
              <a:ahLst/>
              <a:cxnLst/>
              <a:rect r="r" b="b" t="t" l="l"/>
              <a:pathLst>
                <a:path h="13589" w="22189440">
                  <a:moveTo>
                    <a:pt x="0" y="0"/>
                  </a:moveTo>
                  <a:lnTo>
                    <a:pt x="22189440" y="0"/>
                  </a:lnTo>
                  <a:lnTo>
                    <a:pt x="22189440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2536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2203" y="3158747"/>
            <a:ext cx="16652243" cy="10163"/>
            <a:chOff x="0" y="0"/>
            <a:chExt cx="22202991" cy="135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731" y="0"/>
              <a:ext cx="22189440" cy="13589"/>
            </a:xfrm>
            <a:custGeom>
              <a:avLst/>
              <a:gdLst/>
              <a:ahLst/>
              <a:cxnLst/>
              <a:rect r="r" b="b" t="t" l="l"/>
              <a:pathLst>
                <a:path h="13589" w="22189440">
                  <a:moveTo>
                    <a:pt x="0" y="0"/>
                  </a:moveTo>
                  <a:lnTo>
                    <a:pt x="22189440" y="0"/>
                  </a:lnTo>
                  <a:lnTo>
                    <a:pt x="22189440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25366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2203" y="4585211"/>
            <a:ext cx="16652243" cy="10163"/>
            <a:chOff x="0" y="0"/>
            <a:chExt cx="22202991" cy="135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731" y="0"/>
              <a:ext cx="22189440" cy="13589"/>
            </a:xfrm>
            <a:custGeom>
              <a:avLst/>
              <a:gdLst/>
              <a:ahLst/>
              <a:cxnLst/>
              <a:rect r="r" b="b" t="t" l="l"/>
              <a:pathLst>
                <a:path h="13589" w="22189440">
                  <a:moveTo>
                    <a:pt x="0" y="0"/>
                  </a:moveTo>
                  <a:lnTo>
                    <a:pt x="22189440" y="0"/>
                  </a:lnTo>
                  <a:lnTo>
                    <a:pt x="22189440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2536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2203" y="6011675"/>
            <a:ext cx="16652243" cy="10163"/>
            <a:chOff x="0" y="0"/>
            <a:chExt cx="22202991" cy="135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731" y="0"/>
              <a:ext cx="22189440" cy="13589"/>
            </a:xfrm>
            <a:custGeom>
              <a:avLst/>
              <a:gdLst/>
              <a:ahLst/>
              <a:cxnLst/>
              <a:rect r="r" b="b" t="t" l="l"/>
              <a:pathLst>
                <a:path h="13589" w="22189440">
                  <a:moveTo>
                    <a:pt x="0" y="0"/>
                  </a:moveTo>
                  <a:lnTo>
                    <a:pt x="22189440" y="0"/>
                  </a:lnTo>
                  <a:lnTo>
                    <a:pt x="22189440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2536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2203" y="7438139"/>
            <a:ext cx="16652243" cy="10163"/>
            <a:chOff x="0" y="0"/>
            <a:chExt cx="22202991" cy="135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731" y="0"/>
              <a:ext cx="22189440" cy="13589"/>
            </a:xfrm>
            <a:custGeom>
              <a:avLst/>
              <a:gdLst/>
              <a:ahLst/>
              <a:cxnLst/>
              <a:rect r="r" b="b" t="t" l="l"/>
              <a:pathLst>
                <a:path h="13589" w="22189440">
                  <a:moveTo>
                    <a:pt x="0" y="0"/>
                  </a:moveTo>
                  <a:lnTo>
                    <a:pt x="22189440" y="0"/>
                  </a:lnTo>
                  <a:lnTo>
                    <a:pt x="22189440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2536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2203" y="8864603"/>
            <a:ext cx="16652243" cy="10163"/>
            <a:chOff x="0" y="0"/>
            <a:chExt cx="22202991" cy="135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731" y="0"/>
              <a:ext cx="22189440" cy="13589"/>
            </a:xfrm>
            <a:custGeom>
              <a:avLst/>
              <a:gdLst/>
              <a:ahLst/>
              <a:cxnLst/>
              <a:rect r="r" b="b" t="t" l="l"/>
              <a:pathLst>
                <a:path h="13589" w="22189440">
                  <a:moveTo>
                    <a:pt x="0" y="0"/>
                  </a:moveTo>
                  <a:lnTo>
                    <a:pt x="22189440" y="0"/>
                  </a:lnTo>
                  <a:lnTo>
                    <a:pt x="22189440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25366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8720" y="1133856"/>
            <a:ext cx="15910560" cy="1499616"/>
            <a:chOff x="0" y="0"/>
            <a:chExt cx="21214080" cy="19994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140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731" r="0" b="-1567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33350"/>
              <a:ext cx="21214080" cy="21328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b="true" sz="68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 ADOPTION ANALYTICS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8720" y="2633472"/>
            <a:ext cx="15910560" cy="768096"/>
            <a:chOff x="0" y="0"/>
            <a:chExt cx="21214080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14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121408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0EA5A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Washington State Electric Vehicle Population Intelligence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8720" y="3621024"/>
            <a:ext cx="8229600" cy="100584"/>
            <a:chOff x="0" y="0"/>
            <a:chExt cx="10972800" cy="1341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134112"/>
            </a:xfrm>
            <a:custGeom>
              <a:avLst/>
              <a:gdLst/>
              <a:ahLst/>
              <a:cxnLst/>
              <a:rect r="r" b="b" t="t" l="l"/>
              <a:pathLst>
                <a:path h="1341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8720" y="4023360"/>
            <a:ext cx="2560320" cy="658368"/>
            <a:chOff x="0" y="0"/>
            <a:chExt cx="3413760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13760" cy="877824"/>
            </a:xfrm>
            <a:custGeom>
              <a:avLst/>
              <a:gdLst/>
              <a:ahLst/>
              <a:cxnLst/>
              <a:rect r="r" b="b" t="t" l="l"/>
              <a:pathLst>
                <a:path h="87782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4137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SECTOR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840480" y="4023360"/>
            <a:ext cx="5852160" cy="658368"/>
            <a:chOff x="0" y="0"/>
            <a:chExt cx="7802880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02880" cy="877824"/>
            </a:xfrm>
            <a:custGeom>
              <a:avLst/>
              <a:gdLst/>
              <a:ahLst/>
              <a:cxnLst/>
              <a:rect r="r" b="b" t="t" l="l"/>
              <a:pathLst>
                <a:path h="8778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8028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4F7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Transportation &amp; Energy Policy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8720" y="4937760"/>
            <a:ext cx="2560320" cy="658368"/>
            <a:chOff x="0" y="0"/>
            <a:chExt cx="3413760" cy="877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3760" cy="877824"/>
            </a:xfrm>
            <a:custGeom>
              <a:avLst/>
              <a:gdLst/>
              <a:ahLst/>
              <a:cxnLst/>
              <a:rect r="r" b="b" t="t" l="l"/>
              <a:pathLst>
                <a:path h="87782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4137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ID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840480" y="4937760"/>
            <a:ext cx="5852160" cy="658368"/>
            <a:chOff x="0" y="0"/>
            <a:chExt cx="7802880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02880" cy="877824"/>
            </a:xfrm>
            <a:custGeom>
              <a:avLst/>
              <a:gdLst/>
              <a:ahLst/>
              <a:cxnLst/>
              <a:rect r="r" b="b" t="t" l="l"/>
              <a:pathLst>
                <a:path h="8778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8028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4F7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Section-C | Group 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720" y="5852160"/>
            <a:ext cx="2560320" cy="658368"/>
            <a:chOff x="0" y="0"/>
            <a:chExt cx="3413760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13760" cy="877824"/>
            </a:xfrm>
            <a:custGeom>
              <a:avLst/>
              <a:gdLst/>
              <a:ahLst/>
              <a:cxnLst/>
              <a:rect r="r" b="b" t="t" l="l"/>
              <a:pathLst>
                <a:path h="87782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4137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840480" y="5852160"/>
            <a:ext cx="5852160" cy="658368"/>
            <a:chOff x="0" y="0"/>
            <a:chExt cx="7802880" cy="8778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802880" cy="877824"/>
            </a:xfrm>
            <a:custGeom>
              <a:avLst/>
              <a:gdLst/>
              <a:ahLst/>
              <a:cxnLst/>
              <a:rect r="r" b="b" t="t" l="l"/>
              <a:pathLst>
                <a:path h="8778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8028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4F7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Newton School of Technology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720" y="6766560"/>
            <a:ext cx="2560320" cy="658368"/>
            <a:chOff x="0" y="0"/>
            <a:chExt cx="3413760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13760" cy="877824"/>
            </a:xfrm>
            <a:custGeom>
              <a:avLst/>
              <a:gdLst/>
              <a:ahLst/>
              <a:cxnLst/>
              <a:rect r="r" b="b" t="t" l="l"/>
              <a:pathLst>
                <a:path h="87782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413760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SUBMISSION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840480" y="6766560"/>
            <a:ext cx="5852160" cy="658368"/>
            <a:chOff x="0" y="0"/>
            <a:chExt cx="7802880" cy="8778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02880" cy="877824"/>
            </a:xfrm>
            <a:custGeom>
              <a:avLst/>
              <a:gdLst/>
              <a:ahLst/>
              <a:cxnLst/>
              <a:rect r="r" b="b" t="t" l="l"/>
              <a:pathLst>
                <a:path h="8778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8028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4F7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 April 2026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052047" y="3651247"/>
            <a:ext cx="7693657" cy="6139177"/>
            <a:chOff x="0" y="0"/>
            <a:chExt cx="10258209" cy="818556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8509" y="8509"/>
              <a:ext cx="10241280" cy="8168640"/>
            </a:xfrm>
            <a:custGeom>
              <a:avLst/>
              <a:gdLst/>
              <a:ahLst/>
              <a:cxnLst/>
              <a:rect r="r" b="b" t="t" l="l"/>
              <a:pathLst>
                <a:path h="81686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68640"/>
                  </a:lnTo>
                  <a:lnTo>
                    <a:pt x="0" y="8168640"/>
                  </a:lnTo>
                  <a:close/>
                </a:path>
              </a:pathLst>
            </a:custGeom>
            <a:solidFill>
              <a:srgbClr val="202F52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58299" cy="8185658"/>
            </a:xfrm>
            <a:custGeom>
              <a:avLst/>
              <a:gdLst/>
              <a:ahLst/>
              <a:cxnLst/>
              <a:rect r="r" b="b" t="t" l="l"/>
              <a:pathLst>
                <a:path h="8185658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3810"/>
                    <a:pt x="10258299" y="8509"/>
                  </a:cubicBezTo>
                  <a:lnTo>
                    <a:pt x="10258299" y="8177149"/>
                  </a:lnTo>
                  <a:cubicBezTo>
                    <a:pt x="10258299" y="8181848"/>
                    <a:pt x="10254488" y="8185658"/>
                    <a:pt x="10249789" y="8185658"/>
                  </a:cubicBezTo>
                  <a:lnTo>
                    <a:pt x="8509" y="8185658"/>
                  </a:lnTo>
                  <a:cubicBezTo>
                    <a:pt x="3810" y="8185658"/>
                    <a:pt x="0" y="8181848"/>
                    <a:pt x="0" y="8177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177149"/>
                  </a:lnTo>
                  <a:lnTo>
                    <a:pt x="8509" y="8177149"/>
                  </a:lnTo>
                  <a:lnTo>
                    <a:pt x="8509" y="8168640"/>
                  </a:lnTo>
                  <a:lnTo>
                    <a:pt x="10249789" y="8168640"/>
                  </a:lnTo>
                  <a:lnTo>
                    <a:pt x="10249789" y="8177149"/>
                  </a:lnTo>
                  <a:lnTo>
                    <a:pt x="10241280" y="8177149"/>
                  </a:lnTo>
                  <a:lnTo>
                    <a:pt x="10241280" y="8509"/>
                  </a:lnTo>
                  <a:lnTo>
                    <a:pt x="10249789" y="8509"/>
                  </a:lnTo>
                  <a:lnTo>
                    <a:pt x="10249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407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332720" y="3877056"/>
            <a:ext cx="7132320" cy="548640"/>
            <a:chOff x="0" y="0"/>
            <a:chExt cx="950976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400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326367" y="4455919"/>
            <a:ext cx="6870697" cy="12697"/>
            <a:chOff x="0" y="0"/>
            <a:chExt cx="9160929" cy="1692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8509" y="0"/>
              <a:ext cx="9144000" cy="16891"/>
            </a:xfrm>
            <a:custGeom>
              <a:avLst/>
              <a:gdLst/>
              <a:ahLst/>
              <a:cxnLst/>
              <a:rect r="r" b="b" t="t" l="l"/>
              <a:pathLst>
                <a:path h="1689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E407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332720" y="4663440"/>
            <a:ext cx="4572000" cy="548640"/>
            <a:chOff x="0" y="0"/>
            <a:chExt cx="60960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Omved Nagre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721840" y="4663440"/>
            <a:ext cx="2743200" cy="548640"/>
            <a:chOff x="0" y="0"/>
            <a:chExt cx="365760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657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0EA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Lead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332720" y="5486400"/>
            <a:ext cx="4572000" cy="548640"/>
            <a:chOff x="0" y="0"/>
            <a:chExt cx="60960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Om Mishra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721840" y="5486400"/>
            <a:ext cx="2743200" cy="548640"/>
            <a:chOff x="0" y="0"/>
            <a:chExt cx="36576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657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0EA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Lead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332720" y="6309360"/>
            <a:ext cx="4572000" cy="548640"/>
            <a:chOff x="0" y="0"/>
            <a:chExt cx="60960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Gogulamudi JayaDeep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721840" y="6309360"/>
            <a:ext cx="2743200" cy="548640"/>
            <a:chOff x="0" y="0"/>
            <a:chExt cx="365760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3657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0EA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ETL Lead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332720" y="7132320"/>
            <a:ext cx="4572000" cy="548640"/>
            <a:chOff x="0" y="0"/>
            <a:chExt cx="609600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Sushant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721840" y="7132320"/>
            <a:ext cx="2743200" cy="548640"/>
            <a:chOff x="0" y="0"/>
            <a:chExt cx="365760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3657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0EA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Analysis Lead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332720" y="7955280"/>
            <a:ext cx="4572000" cy="548640"/>
            <a:chOff x="0" y="0"/>
            <a:chExt cx="609600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Harsh Raj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721840" y="7955280"/>
            <a:ext cx="2743200" cy="548640"/>
            <a:chOff x="0" y="0"/>
            <a:chExt cx="365760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3657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0EA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Visualization Lead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332720" y="8778240"/>
            <a:ext cx="4572000" cy="548640"/>
            <a:chOff x="0" y="0"/>
            <a:chExt cx="609600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Anshuman Mehta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721840" y="8778240"/>
            <a:ext cx="2743200" cy="548640"/>
            <a:chOff x="0" y="0"/>
            <a:chExt cx="36576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3657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0EA5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Strategy &amp; Quality Lead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88720" y="9784080"/>
            <a:ext cx="15910560" cy="365760"/>
            <a:chOff x="0" y="0"/>
            <a:chExt cx="2121408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214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7599" r="0" b="-79759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1214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Faculty Mentor: Archit Raj, DVA Capstone 2, Section C — Newton School of Technology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&amp; Problem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3727" y="1913887"/>
            <a:ext cx="8425177" cy="3523993"/>
            <a:chOff x="0" y="0"/>
            <a:chExt cx="11233569" cy="46986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8509"/>
              <a:ext cx="1121664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33658" cy="4698746"/>
            </a:xfrm>
            <a:custGeom>
              <a:avLst/>
              <a:gdLst/>
              <a:ahLst/>
              <a:cxnLst/>
              <a:rect r="r" b="b" t="t" l="l"/>
              <a:pathLst>
                <a:path h="4698746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4690237"/>
                  </a:lnTo>
                  <a:cubicBezTo>
                    <a:pt x="11233658" y="4694936"/>
                    <a:pt x="11229848" y="4698746"/>
                    <a:pt x="11225149" y="4698746"/>
                  </a:cubicBezTo>
                  <a:lnTo>
                    <a:pt x="8509" y="4698746"/>
                  </a:lnTo>
                  <a:cubicBezTo>
                    <a:pt x="3810" y="4698746"/>
                    <a:pt x="0" y="4694936"/>
                    <a:pt x="0" y="46902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90237"/>
                  </a:lnTo>
                  <a:lnTo>
                    <a:pt x="8509" y="4690237"/>
                  </a:lnTo>
                  <a:lnTo>
                    <a:pt x="8509" y="4681728"/>
                  </a:lnTo>
                  <a:lnTo>
                    <a:pt x="11225149" y="4681728"/>
                  </a:lnTo>
                  <a:lnTo>
                    <a:pt x="11225149" y="4690237"/>
                  </a:lnTo>
                  <a:lnTo>
                    <a:pt x="11216640" y="4690237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1920240"/>
            <a:ext cx="8412480" cy="128016"/>
            <a:chOff x="0" y="0"/>
            <a:chExt cx="11216640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0080" y="1920240"/>
            <a:ext cx="128016" cy="3511296"/>
            <a:chOff x="0" y="0"/>
            <a:chExt cx="170688" cy="46817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688" cy="4681728"/>
            </a:xfrm>
            <a:custGeom>
              <a:avLst/>
              <a:gdLst/>
              <a:ahLst/>
              <a:cxnLst/>
              <a:rect r="r" b="b" t="t" l="l"/>
              <a:pathLst>
                <a:path h="468172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9264" y="2139696"/>
            <a:ext cx="7955280" cy="548640"/>
            <a:chOff x="0" y="0"/>
            <a:chExt cx="106070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Sector Context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9264" y="2798064"/>
            <a:ext cx="7900416" cy="2414016"/>
            <a:chOff x="0" y="0"/>
            <a:chExt cx="10533888" cy="32186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33888" cy="3218688"/>
            </a:xfrm>
            <a:custGeom>
              <a:avLst/>
              <a:gdLst/>
              <a:ahLst/>
              <a:cxnLst/>
              <a:rect r="r" b="b" t="t" l="l"/>
              <a:pathLst>
                <a:path h="3218688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3218688"/>
                  </a:lnTo>
                  <a:lnTo>
                    <a:pt x="0" y="3218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10533888" cy="3332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8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Washington State leads US EV adoption, driven by the Clean Cars 2030 Act (zero-emission vehicles mandate by 2035), state tax credits, and a tech-forward population concentrated in the Puget Sound corridor.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11967" y="1913887"/>
            <a:ext cx="8425177" cy="3523993"/>
            <a:chOff x="0" y="0"/>
            <a:chExt cx="11233569" cy="469865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509" y="8509"/>
              <a:ext cx="1121664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33658" cy="4698746"/>
            </a:xfrm>
            <a:custGeom>
              <a:avLst/>
              <a:gdLst/>
              <a:ahLst/>
              <a:cxnLst/>
              <a:rect r="r" b="b" t="t" l="l"/>
              <a:pathLst>
                <a:path h="4698746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4690237"/>
                  </a:lnTo>
                  <a:cubicBezTo>
                    <a:pt x="11233658" y="4694936"/>
                    <a:pt x="11229848" y="4698746"/>
                    <a:pt x="11225149" y="4698746"/>
                  </a:cubicBezTo>
                  <a:lnTo>
                    <a:pt x="8509" y="4698746"/>
                  </a:lnTo>
                  <a:cubicBezTo>
                    <a:pt x="3810" y="4698746"/>
                    <a:pt x="0" y="4694936"/>
                    <a:pt x="0" y="46902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90237"/>
                  </a:lnTo>
                  <a:lnTo>
                    <a:pt x="8509" y="4690237"/>
                  </a:lnTo>
                  <a:lnTo>
                    <a:pt x="8509" y="4681728"/>
                  </a:lnTo>
                  <a:lnTo>
                    <a:pt x="11225149" y="4681728"/>
                  </a:lnTo>
                  <a:lnTo>
                    <a:pt x="11225149" y="4690237"/>
                  </a:lnTo>
                  <a:lnTo>
                    <a:pt x="11216640" y="4690237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418320" y="1920240"/>
            <a:ext cx="8412480" cy="128016"/>
            <a:chOff x="0" y="0"/>
            <a:chExt cx="11216640" cy="1706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18320" y="1920240"/>
            <a:ext cx="128016" cy="3511296"/>
            <a:chOff x="0" y="0"/>
            <a:chExt cx="170688" cy="46817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" cy="4681728"/>
            </a:xfrm>
            <a:custGeom>
              <a:avLst/>
              <a:gdLst/>
              <a:ahLst/>
              <a:cxnLst/>
              <a:rect r="r" b="b" t="t" l="l"/>
              <a:pathLst>
                <a:path h="468172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747504" y="2139696"/>
            <a:ext cx="7955280" cy="548640"/>
            <a:chOff x="0" y="0"/>
            <a:chExt cx="106070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Stakeholders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47504" y="2798064"/>
            <a:ext cx="7900416" cy="2414016"/>
            <a:chOff x="0" y="0"/>
            <a:chExt cx="10533888" cy="3218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533888" cy="3218688"/>
            </a:xfrm>
            <a:custGeom>
              <a:avLst/>
              <a:gdLst/>
              <a:ahLst/>
              <a:cxnLst/>
              <a:rect r="r" b="b" t="t" l="l"/>
              <a:pathLst>
                <a:path h="3218688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3218688"/>
                  </a:lnTo>
                  <a:lnTo>
                    <a:pt x="0" y="3218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14300"/>
              <a:ext cx="10533888" cy="3332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8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 Office of Clean Energy · Electric Utility Providers · Auto Manufacturers · City &amp; County Planners · Policy Analysts — all require a unified, spatially-aware analytics framework.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33727" y="5754367"/>
            <a:ext cx="8425177" cy="3523993"/>
            <a:chOff x="0" y="0"/>
            <a:chExt cx="11233569" cy="469865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8509" y="8509"/>
              <a:ext cx="1121664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233658" cy="4698746"/>
            </a:xfrm>
            <a:custGeom>
              <a:avLst/>
              <a:gdLst/>
              <a:ahLst/>
              <a:cxnLst/>
              <a:rect r="r" b="b" t="t" l="l"/>
              <a:pathLst>
                <a:path h="4698746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4690237"/>
                  </a:lnTo>
                  <a:cubicBezTo>
                    <a:pt x="11233658" y="4694936"/>
                    <a:pt x="11229848" y="4698746"/>
                    <a:pt x="11225149" y="4698746"/>
                  </a:cubicBezTo>
                  <a:lnTo>
                    <a:pt x="8509" y="4698746"/>
                  </a:lnTo>
                  <a:cubicBezTo>
                    <a:pt x="3810" y="4698746"/>
                    <a:pt x="0" y="4694936"/>
                    <a:pt x="0" y="46902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90237"/>
                  </a:lnTo>
                  <a:lnTo>
                    <a:pt x="8509" y="4690237"/>
                  </a:lnTo>
                  <a:lnTo>
                    <a:pt x="8509" y="4681728"/>
                  </a:lnTo>
                  <a:lnTo>
                    <a:pt x="11225149" y="4681728"/>
                  </a:lnTo>
                  <a:lnTo>
                    <a:pt x="11225149" y="4690237"/>
                  </a:lnTo>
                  <a:lnTo>
                    <a:pt x="11216640" y="4690237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40080" y="5760720"/>
            <a:ext cx="8412480" cy="128016"/>
            <a:chOff x="0" y="0"/>
            <a:chExt cx="11216640" cy="1706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40080" y="5760720"/>
            <a:ext cx="128016" cy="3511296"/>
            <a:chOff x="0" y="0"/>
            <a:chExt cx="170688" cy="46817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0688" cy="4681728"/>
            </a:xfrm>
            <a:custGeom>
              <a:avLst/>
              <a:gdLst/>
              <a:ahLst/>
              <a:cxnLst/>
              <a:rect r="r" b="b" t="t" l="l"/>
              <a:pathLst>
                <a:path h="468172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9264" y="5980176"/>
            <a:ext cx="7955280" cy="548640"/>
            <a:chOff x="0" y="0"/>
            <a:chExt cx="106070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Business Question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9264" y="6638544"/>
            <a:ext cx="7900416" cy="2414016"/>
            <a:chOff x="0" y="0"/>
            <a:chExt cx="10533888" cy="32186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533888" cy="3218688"/>
            </a:xfrm>
            <a:custGeom>
              <a:avLst/>
              <a:gdLst/>
              <a:ahLst/>
              <a:cxnLst/>
              <a:rect r="r" b="b" t="t" l="l"/>
              <a:pathLst>
                <a:path h="3218688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3218688"/>
                  </a:lnTo>
                  <a:lnTo>
                    <a:pt x="0" y="3218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14300"/>
              <a:ext cx="10533888" cy="3332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8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Which counties, vehicle segments, and technology tiers should Washington State prioritise for infrastructure investment and incentive design to maximise equitable EV adoption by 2030?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11967" y="5754367"/>
            <a:ext cx="8425177" cy="3523993"/>
            <a:chOff x="0" y="0"/>
            <a:chExt cx="11233569" cy="469865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1121664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33658" cy="4698746"/>
            </a:xfrm>
            <a:custGeom>
              <a:avLst/>
              <a:gdLst/>
              <a:ahLst/>
              <a:cxnLst/>
              <a:rect r="r" b="b" t="t" l="l"/>
              <a:pathLst>
                <a:path h="4698746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4690237"/>
                  </a:lnTo>
                  <a:cubicBezTo>
                    <a:pt x="11233658" y="4694936"/>
                    <a:pt x="11229848" y="4698746"/>
                    <a:pt x="11225149" y="4698746"/>
                  </a:cubicBezTo>
                  <a:lnTo>
                    <a:pt x="8509" y="4698746"/>
                  </a:lnTo>
                  <a:cubicBezTo>
                    <a:pt x="3810" y="4698746"/>
                    <a:pt x="0" y="4694936"/>
                    <a:pt x="0" y="46902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90237"/>
                  </a:lnTo>
                  <a:lnTo>
                    <a:pt x="8509" y="4690237"/>
                  </a:lnTo>
                  <a:lnTo>
                    <a:pt x="8509" y="4681728"/>
                  </a:lnTo>
                  <a:lnTo>
                    <a:pt x="11225149" y="4681728"/>
                  </a:lnTo>
                  <a:lnTo>
                    <a:pt x="11225149" y="4690237"/>
                  </a:lnTo>
                  <a:lnTo>
                    <a:pt x="11216640" y="4690237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18320" y="5760720"/>
            <a:ext cx="8412480" cy="128016"/>
            <a:chOff x="0" y="0"/>
            <a:chExt cx="11216640" cy="1706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418320" y="5760720"/>
            <a:ext cx="128016" cy="3511296"/>
            <a:chOff x="0" y="0"/>
            <a:chExt cx="170688" cy="46817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0688" cy="4681728"/>
            </a:xfrm>
            <a:custGeom>
              <a:avLst/>
              <a:gdLst/>
              <a:ahLst/>
              <a:cxnLst/>
              <a:rect r="r" b="b" t="t" l="l"/>
              <a:pathLst>
                <a:path h="468172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747504" y="5980176"/>
            <a:ext cx="7955280" cy="548640"/>
            <a:chOff x="0" y="0"/>
            <a:chExt cx="1060704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747504" y="6638544"/>
            <a:ext cx="7900416" cy="2414016"/>
            <a:chOff x="0" y="0"/>
            <a:chExt cx="10533888" cy="32186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33888" cy="3218688"/>
            </a:xfrm>
            <a:custGeom>
              <a:avLst/>
              <a:gdLst/>
              <a:ahLst/>
              <a:cxnLst/>
              <a:rect r="r" b="b" t="t" l="l"/>
              <a:pathLst>
                <a:path h="3218688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3218688"/>
                  </a:lnTo>
                  <a:lnTo>
                    <a:pt x="0" y="3218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14300"/>
              <a:ext cx="10533888" cy="3332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8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 3 interactive Tableau dashboards, 8–12 data-backed insights, and 3–5 actionable recommendations from a complete ETL pipeline covering 280,813 raw EV registration records.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Engineering — ETL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3727" y="1913887"/>
            <a:ext cx="3158233" cy="1841497"/>
            <a:chOff x="0" y="0"/>
            <a:chExt cx="4210977" cy="24553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8509"/>
              <a:ext cx="4194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1066" cy="2455418"/>
            </a:xfrm>
            <a:custGeom>
              <a:avLst/>
              <a:gdLst/>
              <a:ahLst/>
              <a:cxnLst/>
              <a:rect r="r" b="b" t="t" l="l"/>
              <a:pathLst>
                <a:path h="2455418" w="4211066">
                  <a:moveTo>
                    <a:pt x="8509" y="0"/>
                  </a:moveTo>
                  <a:lnTo>
                    <a:pt x="4202557" y="0"/>
                  </a:lnTo>
                  <a:cubicBezTo>
                    <a:pt x="4207256" y="0"/>
                    <a:pt x="4211066" y="3810"/>
                    <a:pt x="4211066" y="8509"/>
                  </a:cubicBezTo>
                  <a:lnTo>
                    <a:pt x="4211066" y="2446909"/>
                  </a:lnTo>
                  <a:cubicBezTo>
                    <a:pt x="4211066" y="2451608"/>
                    <a:pt x="4207256" y="2455418"/>
                    <a:pt x="4202557" y="2455418"/>
                  </a:cubicBezTo>
                  <a:lnTo>
                    <a:pt x="8509" y="2455418"/>
                  </a:lnTo>
                  <a:cubicBezTo>
                    <a:pt x="3810" y="2455418"/>
                    <a:pt x="0" y="2451608"/>
                    <a:pt x="0" y="2446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446909"/>
                  </a:lnTo>
                  <a:lnTo>
                    <a:pt x="8509" y="2446909"/>
                  </a:lnTo>
                  <a:lnTo>
                    <a:pt x="8509" y="2438400"/>
                  </a:lnTo>
                  <a:lnTo>
                    <a:pt x="4202557" y="2438400"/>
                  </a:lnTo>
                  <a:lnTo>
                    <a:pt x="4202557" y="2446909"/>
                  </a:lnTo>
                  <a:lnTo>
                    <a:pt x="4194048" y="2446909"/>
                  </a:lnTo>
                  <a:lnTo>
                    <a:pt x="4194048" y="8509"/>
                  </a:lnTo>
                  <a:lnTo>
                    <a:pt x="4202557" y="8509"/>
                  </a:lnTo>
                  <a:lnTo>
                    <a:pt x="420255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1975104"/>
            <a:ext cx="3145536" cy="950976"/>
            <a:chOff x="0" y="0"/>
            <a:chExt cx="4194048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40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4194048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280,813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8096" y="2926080"/>
            <a:ext cx="2889504" cy="731520"/>
            <a:chOff x="0" y="0"/>
            <a:chExt cx="3852672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52672" cy="975360"/>
            </a:xfrm>
            <a:custGeom>
              <a:avLst/>
              <a:gdLst/>
              <a:ahLst/>
              <a:cxnLst/>
              <a:rect r="r" b="b" t="t" l="l"/>
              <a:pathLst>
                <a:path h="97536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65" r="0" b="-269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852672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Records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(DOL Registry)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14800" y="2048256"/>
            <a:ext cx="1463040" cy="1097280"/>
            <a:chOff x="0" y="0"/>
            <a:chExt cx="19507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0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195072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114800" y="3145536"/>
            <a:ext cx="1463040" cy="512064"/>
            <a:chOff x="0" y="0"/>
            <a:chExt cx="195072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95072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5-Stage ETL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83167" y="1913887"/>
            <a:ext cx="3158233" cy="1841497"/>
            <a:chOff x="0" y="0"/>
            <a:chExt cx="4210977" cy="24553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4194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11066" cy="2455418"/>
            </a:xfrm>
            <a:custGeom>
              <a:avLst/>
              <a:gdLst/>
              <a:ahLst/>
              <a:cxnLst/>
              <a:rect r="r" b="b" t="t" l="l"/>
              <a:pathLst>
                <a:path h="2455418" w="4211066">
                  <a:moveTo>
                    <a:pt x="8509" y="0"/>
                  </a:moveTo>
                  <a:lnTo>
                    <a:pt x="4202557" y="0"/>
                  </a:lnTo>
                  <a:cubicBezTo>
                    <a:pt x="4207256" y="0"/>
                    <a:pt x="4211066" y="3810"/>
                    <a:pt x="4211066" y="8509"/>
                  </a:cubicBezTo>
                  <a:lnTo>
                    <a:pt x="4211066" y="2446909"/>
                  </a:lnTo>
                  <a:cubicBezTo>
                    <a:pt x="4211066" y="2451608"/>
                    <a:pt x="4207256" y="2455418"/>
                    <a:pt x="4202557" y="2455418"/>
                  </a:cubicBezTo>
                  <a:lnTo>
                    <a:pt x="8509" y="2455418"/>
                  </a:lnTo>
                  <a:cubicBezTo>
                    <a:pt x="3810" y="2455418"/>
                    <a:pt x="0" y="2451608"/>
                    <a:pt x="0" y="2446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446909"/>
                  </a:lnTo>
                  <a:lnTo>
                    <a:pt x="8509" y="2446909"/>
                  </a:lnTo>
                  <a:lnTo>
                    <a:pt x="8509" y="2438400"/>
                  </a:lnTo>
                  <a:lnTo>
                    <a:pt x="4202557" y="2438400"/>
                  </a:lnTo>
                  <a:lnTo>
                    <a:pt x="4202557" y="2446909"/>
                  </a:lnTo>
                  <a:lnTo>
                    <a:pt x="4194048" y="2446909"/>
                  </a:lnTo>
                  <a:lnTo>
                    <a:pt x="4194048" y="8509"/>
                  </a:lnTo>
                  <a:lnTo>
                    <a:pt x="4202557" y="8509"/>
                  </a:lnTo>
                  <a:lnTo>
                    <a:pt x="420255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589520" y="1975104"/>
            <a:ext cx="3145536" cy="950976"/>
            <a:chOff x="0" y="0"/>
            <a:chExt cx="4194048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940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4194048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101,275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717536" y="2926080"/>
            <a:ext cx="2889504" cy="731520"/>
            <a:chOff x="0" y="0"/>
            <a:chExt cx="3852672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52672" cy="975360"/>
            </a:xfrm>
            <a:custGeom>
              <a:avLst/>
              <a:gdLst/>
              <a:ahLst/>
              <a:cxnLst/>
              <a:rect r="r" b="b" t="t" l="l"/>
              <a:pathLst>
                <a:path h="97536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65" r="0" b="-2696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3852672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Analytical Records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(Verified Range)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057887" y="1913887"/>
            <a:ext cx="3158233" cy="1841497"/>
            <a:chOff x="0" y="0"/>
            <a:chExt cx="4210977" cy="24553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4194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11066" cy="2455418"/>
            </a:xfrm>
            <a:custGeom>
              <a:avLst/>
              <a:gdLst/>
              <a:ahLst/>
              <a:cxnLst/>
              <a:rect r="r" b="b" t="t" l="l"/>
              <a:pathLst>
                <a:path h="2455418" w="4211066">
                  <a:moveTo>
                    <a:pt x="8509" y="0"/>
                  </a:moveTo>
                  <a:lnTo>
                    <a:pt x="4202557" y="0"/>
                  </a:lnTo>
                  <a:cubicBezTo>
                    <a:pt x="4207256" y="0"/>
                    <a:pt x="4211066" y="3810"/>
                    <a:pt x="4211066" y="8509"/>
                  </a:cubicBezTo>
                  <a:lnTo>
                    <a:pt x="4211066" y="2446909"/>
                  </a:lnTo>
                  <a:cubicBezTo>
                    <a:pt x="4211066" y="2451608"/>
                    <a:pt x="4207256" y="2455418"/>
                    <a:pt x="4202557" y="2455418"/>
                  </a:cubicBezTo>
                  <a:lnTo>
                    <a:pt x="8509" y="2455418"/>
                  </a:lnTo>
                  <a:cubicBezTo>
                    <a:pt x="3810" y="2455418"/>
                    <a:pt x="0" y="2451608"/>
                    <a:pt x="0" y="2446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446909"/>
                  </a:lnTo>
                  <a:lnTo>
                    <a:pt x="8509" y="2446909"/>
                  </a:lnTo>
                  <a:lnTo>
                    <a:pt x="8509" y="2438400"/>
                  </a:lnTo>
                  <a:lnTo>
                    <a:pt x="4202557" y="2438400"/>
                  </a:lnTo>
                  <a:lnTo>
                    <a:pt x="4202557" y="2446909"/>
                  </a:lnTo>
                  <a:lnTo>
                    <a:pt x="4194048" y="2446909"/>
                  </a:lnTo>
                  <a:lnTo>
                    <a:pt x="4194048" y="8509"/>
                  </a:lnTo>
                  <a:lnTo>
                    <a:pt x="4202557" y="8509"/>
                  </a:lnTo>
                  <a:lnTo>
                    <a:pt x="420255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064240" y="1975104"/>
            <a:ext cx="3145536" cy="950976"/>
            <a:chOff x="0" y="0"/>
            <a:chExt cx="4194048" cy="12679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940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4194048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26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192256" y="2926080"/>
            <a:ext cx="2889504" cy="731520"/>
            <a:chOff x="0" y="0"/>
            <a:chExt cx="3852672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52672" cy="975360"/>
            </a:xfrm>
            <a:custGeom>
              <a:avLst/>
              <a:gdLst/>
              <a:ahLst/>
              <a:cxnLst/>
              <a:rect r="r" b="b" t="t" l="l"/>
              <a:pathLst>
                <a:path h="97536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65" r="0" b="-269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3852672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Columns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(17 orig + 9 engineered)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532607" y="1913887"/>
            <a:ext cx="3158233" cy="1841497"/>
            <a:chOff x="0" y="0"/>
            <a:chExt cx="4210977" cy="24553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4194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11066" cy="2455418"/>
            </a:xfrm>
            <a:custGeom>
              <a:avLst/>
              <a:gdLst/>
              <a:ahLst/>
              <a:cxnLst/>
              <a:rect r="r" b="b" t="t" l="l"/>
              <a:pathLst>
                <a:path h="2455418" w="4211066">
                  <a:moveTo>
                    <a:pt x="8509" y="0"/>
                  </a:moveTo>
                  <a:lnTo>
                    <a:pt x="4202557" y="0"/>
                  </a:lnTo>
                  <a:cubicBezTo>
                    <a:pt x="4207256" y="0"/>
                    <a:pt x="4211066" y="3810"/>
                    <a:pt x="4211066" y="8509"/>
                  </a:cubicBezTo>
                  <a:lnTo>
                    <a:pt x="4211066" y="2446909"/>
                  </a:lnTo>
                  <a:cubicBezTo>
                    <a:pt x="4211066" y="2451608"/>
                    <a:pt x="4207256" y="2455418"/>
                    <a:pt x="4202557" y="2455418"/>
                  </a:cubicBezTo>
                  <a:lnTo>
                    <a:pt x="8509" y="2455418"/>
                  </a:lnTo>
                  <a:cubicBezTo>
                    <a:pt x="3810" y="2455418"/>
                    <a:pt x="0" y="2451608"/>
                    <a:pt x="0" y="2446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446909"/>
                  </a:lnTo>
                  <a:lnTo>
                    <a:pt x="8509" y="2446909"/>
                  </a:lnTo>
                  <a:lnTo>
                    <a:pt x="8509" y="2438400"/>
                  </a:lnTo>
                  <a:lnTo>
                    <a:pt x="4202557" y="2438400"/>
                  </a:lnTo>
                  <a:lnTo>
                    <a:pt x="4202557" y="2446909"/>
                  </a:lnTo>
                  <a:lnTo>
                    <a:pt x="4194048" y="2446909"/>
                  </a:lnTo>
                  <a:lnTo>
                    <a:pt x="4194048" y="8509"/>
                  </a:lnTo>
                  <a:lnTo>
                    <a:pt x="4202557" y="8509"/>
                  </a:lnTo>
                  <a:lnTo>
                    <a:pt x="420255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538960" y="1975104"/>
            <a:ext cx="3145536" cy="950976"/>
            <a:chOff x="0" y="0"/>
            <a:chExt cx="4194048" cy="12679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940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4194048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666976" y="2926080"/>
            <a:ext cx="2889504" cy="731520"/>
            <a:chOff x="0" y="0"/>
            <a:chExt cx="3852672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852672" cy="975360"/>
            </a:xfrm>
            <a:custGeom>
              <a:avLst/>
              <a:gdLst/>
              <a:ahLst/>
              <a:cxnLst/>
              <a:rect r="r" b="b" t="t" l="l"/>
              <a:pathLst>
                <a:path h="97536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65" r="0" b="-269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3852672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Values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Final Dataset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0080" y="4114800"/>
            <a:ext cx="8229600" cy="512064"/>
            <a:chOff x="0" y="0"/>
            <a:chExt cx="1097280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 CLEANING STEPS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0080" y="4828032"/>
            <a:ext cx="457200" cy="457200"/>
            <a:chOff x="0" y="0"/>
            <a:chExt cx="609600" cy="609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40080" y="4828032"/>
            <a:ext cx="457200" cy="457200"/>
            <a:chOff x="0" y="0"/>
            <a:chExt cx="60960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609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80160" y="4754880"/>
            <a:ext cx="7863840" cy="987552"/>
            <a:chOff x="0" y="0"/>
            <a:chExt cx="10485120" cy="13167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85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158" r="0" b="-10515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48512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 Range → NaN  —  179,538 rows where Electric Range = 0 (DOL code for 'not researched') replaced with NaN. Original values preserved in Electric Range Raw.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40080" y="5852160"/>
            <a:ext cx="457200" cy="457200"/>
            <a:chOff x="0" y="0"/>
            <a:chExt cx="60960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40080" y="5852160"/>
            <a:ext cx="457200" cy="457200"/>
            <a:chOff x="0" y="0"/>
            <a:chExt cx="609600" cy="609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609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80160" y="5779008"/>
            <a:ext cx="7863840" cy="987552"/>
            <a:chOff x="0" y="0"/>
            <a:chExt cx="10485120" cy="13167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485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158" r="0" b="-10515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48512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Postal Code Fix  —  Float format 98034.0 converted to string '98034' by stripping .0 suffix.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40080" y="6876288"/>
            <a:ext cx="457200" cy="457200"/>
            <a:chOff x="0" y="0"/>
            <a:chExt cx="609600" cy="609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0080" y="6876288"/>
            <a:ext cx="457200" cy="457200"/>
            <a:chOff x="0" y="0"/>
            <a:chExt cx="609600" cy="609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609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80160" y="6803136"/>
            <a:ext cx="7863840" cy="987552"/>
            <a:chOff x="0" y="0"/>
            <a:chExt cx="10485120" cy="13167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85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158" r="0" b="-10515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48512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Geographic Nulls  —  County, City, Legislative District, Vehicle Location NaNs filled with 'Unknown' to preserve grouping integrity.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40080" y="7900416"/>
            <a:ext cx="457200" cy="457200"/>
            <a:chOff x="0" y="0"/>
            <a:chExt cx="60960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40080" y="7900416"/>
            <a:ext cx="457200" cy="457200"/>
            <a:chOff x="0" y="0"/>
            <a:chExt cx="60960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609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80160" y="7827264"/>
            <a:ext cx="7863840" cy="987552"/>
            <a:chOff x="0" y="0"/>
            <a:chExt cx="10485120" cy="131673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485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158" r="0" b="-10515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048512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Coordinate Extraction  —  POINT(lon lat) strings parsed via regex into numeric Latitude and Longitude columns. ~500 corrupt rows dropped.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40080" y="8924544"/>
            <a:ext cx="457200" cy="457200"/>
            <a:chOff x="0" y="0"/>
            <a:chExt cx="609600" cy="609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640080" y="8924544"/>
            <a:ext cx="457200" cy="457200"/>
            <a:chOff x="0" y="0"/>
            <a:chExt cx="60960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609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80160" y="8851392"/>
            <a:ext cx="7863840" cy="987552"/>
            <a:chOff x="0" y="0"/>
            <a:chExt cx="10485120" cy="131673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85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158" r="0" b="-10515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048512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CAFV Text Normalised  —  Verbose eligibility text mapped to clean 3-tier Eligibility_Status (Eligible / Not Eligible / Unknown).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01200" y="4114800"/>
            <a:ext cx="8229600" cy="512064"/>
            <a:chOff x="0" y="0"/>
            <a:chExt cx="10972800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 ENGINEERED FEATURES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601200" y="4754880"/>
            <a:ext cx="548640" cy="548640"/>
            <a:chOff x="0" y="0"/>
            <a:chExt cx="731520" cy="7315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058400" y="4754880"/>
            <a:ext cx="7498080" cy="585216"/>
            <a:chOff x="0" y="0"/>
            <a:chExt cx="9997440" cy="78028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Electric Range Raw  </a:t>
              </a: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Copy before zero → NaN (for population counts)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601200" y="5376672"/>
            <a:ext cx="548640" cy="548640"/>
            <a:chOff x="0" y="0"/>
            <a:chExt cx="731520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058400" y="5376672"/>
            <a:ext cx="7498080" cy="585216"/>
            <a:chOff x="0" y="0"/>
            <a:chExt cx="9997440" cy="78028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Vehicle Age  </a:t>
              </a: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2026 − Model Year (range: 0–27 years)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601200" y="5998464"/>
            <a:ext cx="548640" cy="548640"/>
            <a:chOff x="0" y="0"/>
            <a:chExt cx="731520" cy="73152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0058400" y="5998464"/>
            <a:ext cx="7498080" cy="585216"/>
            <a:chOff x="0" y="0"/>
            <a:chExt cx="9997440" cy="7802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CAFV_Status  </a:t>
              </a: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2-tier: Eligible / Unknown-Not-Eligible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601200" y="6620256"/>
            <a:ext cx="548640" cy="548640"/>
            <a:chOff x="0" y="0"/>
            <a:chExt cx="731520" cy="73152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058400" y="6620256"/>
            <a:ext cx="7498080" cy="585216"/>
            <a:chOff x="0" y="0"/>
            <a:chExt cx="9997440" cy="78028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Range_Category  </a:t>
              </a: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Urban Commuter / Regional Traveler / Long Range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601200" y="7242048"/>
            <a:ext cx="548640" cy="548640"/>
            <a:chOff x="0" y="0"/>
            <a:chExt cx="731520" cy="7315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058400" y="7242048"/>
            <a:ext cx="7498080" cy="585216"/>
            <a:chOff x="0" y="0"/>
            <a:chExt cx="9997440" cy="78028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Latitude &amp; Longitude  </a:t>
              </a: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Regex-extracted from POINT coordinate string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601200" y="7863840"/>
            <a:ext cx="548640" cy="548640"/>
            <a:chOff x="0" y="0"/>
            <a:chExt cx="731520" cy="73152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0058400" y="7863840"/>
            <a:ext cx="7498080" cy="585216"/>
            <a:chOff x="0" y="0"/>
            <a:chExt cx="9997440" cy="78028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Market_Segment  </a:t>
              </a: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Luxury brands vs. Mass Market brands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601200" y="8485632"/>
            <a:ext cx="548640" cy="548640"/>
            <a:chOff x="0" y="0"/>
            <a:chExt cx="731520" cy="73152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0058400" y="8485632"/>
            <a:ext cx="7498080" cy="585216"/>
            <a:chOff x="0" y="0"/>
            <a:chExt cx="9997440" cy="78028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Eligibility_Status  </a:t>
              </a: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3-tier traffic-light CAFV mapping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601200" y="9107424"/>
            <a:ext cx="548640" cy="548640"/>
            <a:chOff x="0" y="0"/>
            <a:chExt cx="731520" cy="73152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0058400" y="9107424"/>
            <a:ext cx="7498080" cy="585216"/>
            <a:chOff x="0" y="0"/>
            <a:chExt cx="9997440" cy="78028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Adoption_Wave  </a:t>
              </a: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(≤2015) / Growth (2016–20) / Mass (2021+)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9601200" y="9729216"/>
            <a:ext cx="548640" cy="548640"/>
            <a:chOff x="0" y="0"/>
            <a:chExt cx="731520" cy="73152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0058400" y="9729216"/>
            <a:ext cx="7498080" cy="585216"/>
            <a:chOff x="0" y="0"/>
            <a:chExt cx="9997440" cy="78028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Utility_Complexity_Score  </a:t>
              </a: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Count of || -separated utility jurisdictions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640080" y="9838944"/>
            <a:ext cx="17373600" cy="329184"/>
            <a:chOff x="0" y="0"/>
            <a:chExt cx="23164800" cy="438912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3164800" cy="438912"/>
            </a:xfrm>
            <a:custGeom>
              <a:avLst/>
              <a:gdLst/>
              <a:ahLst/>
              <a:cxnLst/>
              <a:rect r="r" b="b" t="t" l="l"/>
              <a:pathLst>
                <a:path h="43891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376" r="0" b="-978376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28575"/>
              <a:ext cx="2316480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Source: Washington State Dept. of Licensing · data.gov/dataset/electric-vehicle-population-data · Last updated April 2026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Framework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3727" y="1913887"/>
            <a:ext cx="3341113" cy="2024377"/>
            <a:chOff x="0" y="0"/>
            <a:chExt cx="4454817" cy="2699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8509"/>
              <a:ext cx="44378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54906" cy="2699258"/>
            </a:xfrm>
            <a:custGeom>
              <a:avLst/>
              <a:gdLst/>
              <a:ahLst/>
              <a:cxnLst/>
              <a:rect r="r" b="b" t="t" l="l"/>
              <a:pathLst>
                <a:path h="2699258" w="4454906">
                  <a:moveTo>
                    <a:pt x="8509" y="0"/>
                  </a:moveTo>
                  <a:lnTo>
                    <a:pt x="4446397" y="0"/>
                  </a:lnTo>
                  <a:cubicBezTo>
                    <a:pt x="4451096" y="0"/>
                    <a:pt x="4454906" y="3810"/>
                    <a:pt x="4454906" y="8509"/>
                  </a:cubicBezTo>
                  <a:lnTo>
                    <a:pt x="4454906" y="2690749"/>
                  </a:lnTo>
                  <a:cubicBezTo>
                    <a:pt x="4454906" y="2695448"/>
                    <a:pt x="4451096" y="2699258"/>
                    <a:pt x="4446397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4446397" y="2682240"/>
                  </a:lnTo>
                  <a:lnTo>
                    <a:pt x="4446397" y="2690749"/>
                  </a:lnTo>
                  <a:lnTo>
                    <a:pt x="4437888" y="2690749"/>
                  </a:lnTo>
                  <a:lnTo>
                    <a:pt x="4437888" y="8509"/>
                  </a:lnTo>
                  <a:lnTo>
                    <a:pt x="4446397" y="8509"/>
                  </a:lnTo>
                  <a:lnTo>
                    <a:pt x="4446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1920240"/>
            <a:ext cx="3328416" cy="128016"/>
            <a:chOff x="0" y="0"/>
            <a:chExt cx="4437888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37888" cy="170688"/>
            </a:xfrm>
            <a:custGeom>
              <a:avLst/>
              <a:gdLst/>
              <a:ahLst/>
              <a:cxnLst/>
              <a:rect r="r" b="b" t="t" l="l"/>
              <a:pathLst>
                <a:path h="1706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0080" y="2103120"/>
            <a:ext cx="3328416" cy="950976"/>
            <a:chOff x="0" y="0"/>
            <a:chExt cx="4437888" cy="12679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378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44378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101,275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6384" y="3054096"/>
            <a:ext cx="3035808" cy="768096"/>
            <a:chOff x="0" y="0"/>
            <a:chExt cx="4047744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47744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2" r="0" b="-2701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Verified Registrations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(Base Population)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145023" y="1913887"/>
            <a:ext cx="3341113" cy="2024377"/>
            <a:chOff x="0" y="0"/>
            <a:chExt cx="4454817" cy="26991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8509" y="8509"/>
              <a:ext cx="44378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54906" cy="2699258"/>
            </a:xfrm>
            <a:custGeom>
              <a:avLst/>
              <a:gdLst/>
              <a:ahLst/>
              <a:cxnLst/>
              <a:rect r="r" b="b" t="t" l="l"/>
              <a:pathLst>
                <a:path h="2699258" w="4454906">
                  <a:moveTo>
                    <a:pt x="8509" y="0"/>
                  </a:moveTo>
                  <a:lnTo>
                    <a:pt x="4446397" y="0"/>
                  </a:lnTo>
                  <a:cubicBezTo>
                    <a:pt x="4451096" y="0"/>
                    <a:pt x="4454906" y="3810"/>
                    <a:pt x="4454906" y="8509"/>
                  </a:cubicBezTo>
                  <a:lnTo>
                    <a:pt x="4454906" y="2690749"/>
                  </a:lnTo>
                  <a:cubicBezTo>
                    <a:pt x="4454906" y="2695448"/>
                    <a:pt x="4451096" y="2699258"/>
                    <a:pt x="4446397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4446397" y="2682240"/>
                  </a:lnTo>
                  <a:lnTo>
                    <a:pt x="4446397" y="2690749"/>
                  </a:lnTo>
                  <a:lnTo>
                    <a:pt x="4437888" y="2690749"/>
                  </a:lnTo>
                  <a:lnTo>
                    <a:pt x="4437888" y="8509"/>
                  </a:lnTo>
                  <a:lnTo>
                    <a:pt x="4446397" y="8509"/>
                  </a:lnTo>
                  <a:lnTo>
                    <a:pt x="4446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51376" y="1920240"/>
            <a:ext cx="3328416" cy="128016"/>
            <a:chOff x="0" y="0"/>
            <a:chExt cx="4437888" cy="1706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37888" cy="170688"/>
            </a:xfrm>
            <a:custGeom>
              <a:avLst/>
              <a:gdLst/>
              <a:ahLst/>
              <a:cxnLst/>
              <a:rect r="r" b="b" t="t" l="l"/>
              <a:pathLst>
                <a:path h="1706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151376" y="2103120"/>
            <a:ext cx="3328416" cy="950976"/>
            <a:chOff x="0" y="0"/>
            <a:chExt cx="4437888" cy="12679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378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44378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68.7%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297680" y="3054096"/>
            <a:ext cx="3035808" cy="768096"/>
            <a:chOff x="0" y="0"/>
            <a:chExt cx="4047744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47744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2" r="0" b="-2701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BEV Adoption Rate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(verified-range subset)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656319" y="1913887"/>
            <a:ext cx="3341113" cy="2024377"/>
            <a:chOff x="0" y="0"/>
            <a:chExt cx="4454817" cy="26991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44378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54906" cy="2699258"/>
            </a:xfrm>
            <a:custGeom>
              <a:avLst/>
              <a:gdLst/>
              <a:ahLst/>
              <a:cxnLst/>
              <a:rect r="r" b="b" t="t" l="l"/>
              <a:pathLst>
                <a:path h="2699258" w="4454906">
                  <a:moveTo>
                    <a:pt x="8509" y="0"/>
                  </a:moveTo>
                  <a:lnTo>
                    <a:pt x="4446397" y="0"/>
                  </a:lnTo>
                  <a:cubicBezTo>
                    <a:pt x="4451096" y="0"/>
                    <a:pt x="4454906" y="3810"/>
                    <a:pt x="4454906" y="8509"/>
                  </a:cubicBezTo>
                  <a:lnTo>
                    <a:pt x="4454906" y="2690749"/>
                  </a:lnTo>
                  <a:cubicBezTo>
                    <a:pt x="4454906" y="2695448"/>
                    <a:pt x="4451096" y="2699258"/>
                    <a:pt x="4446397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4446397" y="2682240"/>
                  </a:lnTo>
                  <a:lnTo>
                    <a:pt x="4446397" y="2690749"/>
                  </a:lnTo>
                  <a:lnTo>
                    <a:pt x="4437888" y="2690749"/>
                  </a:lnTo>
                  <a:lnTo>
                    <a:pt x="4437888" y="8509"/>
                  </a:lnTo>
                  <a:lnTo>
                    <a:pt x="4446397" y="8509"/>
                  </a:lnTo>
                  <a:lnTo>
                    <a:pt x="4446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662672" y="1920240"/>
            <a:ext cx="3328416" cy="128016"/>
            <a:chOff x="0" y="0"/>
            <a:chExt cx="4437888" cy="1706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437888" cy="170688"/>
            </a:xfrm>
            <a:custGeom>
              <a:avLst/>
              <a:gdLst/>
              <a:ahLst/>
              <a:cxnLst/>
              <a:rect r="r" b="b" t="t" l="l"/>
              <a:pathLst>
                <a:path h="1706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62672" y="2103120"/>
            <a:ext cx="3328416" cy="950976"/>
            <a:chOff x="0" y="0"/>
            <a:chExt cx="4437888" cy="12679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378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44378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107.5 mi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08976" y="3054096"/>
            <a:ext cx="3035808" cy="768096"/>
            <a:chOff x="0" y="0"/>
            <a:chExt cx="4047744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47744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2" r="0" b="-2701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 Electric Range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(full analytical set)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167615" y="1913887"/>
            <a:ext cx="3341113" cy="2024377"/>
            <a:chOff x="0" y="0"/>
            <a:chExt cx="4454817" cy="26991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44378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54906" cy="2699258"/>
            </a:xfrm>
            <a:custGeom>
              <a:avLst/>
              <a:gdLst/>
              <a:ahLst/>
              <a:cxnLst/>
              <a:rect r="r" b="b" t="t" l="l"/>
              <a:pathLst>
                <a:path h="2699258" w="4454906">
                  <a:moveTo>
                    <a:pt x="8509" y="0"/>
                  </a:moveTo>
                  <a:lnTo>
                    <a:pt x="4446397" y="0"/>
                  </a:lnTo>
                  <a:cubicBezTo>
                    <a:pt x="4451096" y="0"/>
                    <a:pt x="4454906" y="3810"/>
                    <a:pt x="4454906" y="8509"/>
                  </a:cubicBezTo>
                  <a:lnTo>
                    <a:pt x="4454906" y="2690749"/>
                  </a:lnTo>
                  <a:cubicBezTo>
                    <a:pt x="4454906" y="2695448"/>
                    <a:pt x="4451096" y="2699258"/>
                    <a:pt x="4446397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4446397" y="2682240"/>
                  </a:lnTo>
                  <a:lnTo>
                    <a:pt x="4446397" y="2690749"/>
                  </a:lnTo>
                  <a:lnTo>
                    <a:pt x="4437888" y="2690749"/>
                  </a:lnTo>
                  <a:lnTo>
                    <a:pt x="4437888" y="8509"/>
                  </a:lnTo>
                  <a:lnTo>
                    <a:pt x="4446397" y="8509"/>
                  </a:lnTo>
                  <a:lnTo>
                    <a:pt x="4446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173968" y="1920240"/>
            <a:ext cx="3328416" cy="128016"/>
            <a:chOff x="0" y="0"/>
            <a:chExt cx="4437888" cy="1706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37888" cy="170688"/>
            </a:xfrm>
            <a:custGeom>
              <a:avLst/>
              <a:gdLst/>
              <a:ahLst/>
              <a:cxnLst/>
              <a:rect r="r" b="b" t="t" l="l"/>
              <a:pathLst>
                <a:path h="1706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173968" y="2103120"/>
            <a:ext cx="3328416" cy="950976"/>
            <a:chOff x="0" y="0"/>
            <a:chExt cx="4437888" cy="12679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4378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76200"/>
              <a:ext cx="44378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82.1%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320272" y="3054096"/>
            <a:ext cx="3035808" cy="768096"/>
            <a:chOff x="0" y="0"/>
            <a:chExt cx="4047744" cy="10241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47744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2" r="0" b="-2701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CAFV Eligibility Rate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(incentive coverage)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678911" y="1913887"/>
            <a:ext cx="3341113" cy="2024377"/>
            <a:chOff x="0" y="0"/>
            <a:chExt cx="4454817" cy="269916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509" y="8509"/>
              <a:ext cx="44378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54906" cy="2699258"/>
            </a:xfrm>
            <a:custGeom>
              <a:avLst/>
              <a:gdLst/>
              <a:ahLst/>
              <a:cxnLst/>
              <a:rect r="r" b="b" t="t" l="l"/>
              <a:pathLst>
                <a:path h="2699258" w="4454906">
                  <a:moveTo>
                    <a:pt x="8509" y="0"/>
                  </a:moveTo>
                  <a:lnTo>
                    <a:pt x="4446397" y="0"/>
                  </a:lnTo>
                  <a:cubicBezTo>
                    <a:pt x="4451096" y="0"/>
                    <a:pt x="4454906" y="3810"/>
                    <a:pt x="4454906" y="8509"/>
                  </a:cubicBezTo>
                  <a:lnTo>
                    <a:pt x="4454906" y="2690749"/>
                  </a:lnTo>
                  <a:cubicBezTo>
                    <a:pt x="4454906" y="2695448"/>
                    <a:pt x="4451096" y="2699258"/>
                    <a:pt x="4446397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4446397" y="2682240"/>
                  </a:lnTo>
                  <a:lnTo>
                    <a:pt x="4446397" y="2690749"/>
                  </a:lnTo>
                  <a:lnTo>
                    <a:pt x="4437888" y="2690749"/>
                  </a:lnTo>
                  <a:lnTo>
                    <a:pt x="4437888" y="8509"/>
                  </a:lnTo>
                  <a:lnTo>
                    <a:pt x="4446397" y="8509"/>
                  </a:lnTo>
                  <a:lnTo>
                    <a:pt x="4446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685264" y="1920240"/>
            <a:ext cx="3328416" cy="128016"/>
            <a:chOff x="0" y="0"/>
            <a:chExt cx="4437888" cy="1706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437888" cy="170688"/>
            </a:xfrm>
            <a:custGeom>
              <a:avLst/>
              <a:gdLst/>
              <a:ahLst/>
              <a:cxnLst/>
              <a:rect r="r" b="b" t="t" l="l"/>
              <a:pathLst>
                <a:path h="1706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685264" y="2103120"/>
            <a:ext cx="3328416" cy="950976"/>
            <a:chOff x="0" y="0"/>
            <a:chExt cx="4437888" cy="12679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43788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76200"/>
              <a:ext cx="4437888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23.9%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831568" y="3054096"/>
            <a:ext cx="3035808" cy="768096"/>
            <a:chOff x="0" y="0"/>
            <a:chExt cx="4047744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47744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2" r="0" b="-2701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Tesla Market Share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(dominant brand)</a:t>
              </a:r>
            </a:p>
          </p:txBody>
        </p:sp>
      </p:grpSp>
      <p:graphicFrame>
        <p:nvGraphicFramePr>
          <p:cNvPr name="Table 69" id="69"/>
          <p:cNvGraphicFramePr>
            <a:graphicFrameLocks noGrp="true"/>
          </p:cNvGraphicFramePr>
          <p:nvPr/>
        </p:nvGraphicFramePr>
        <p:xfrm>
          <a:off x="640080" y="4242816"/>
          <a:ext cx="17221200" cy="5486400"/>
        </p:xfrm>
        <a:graphic>
          <a:graphicData uri="http://schemas.openxmlformats.org/drawingml/2006/table">
            <a:tbl>
              <a:tblPr/>
              <a:tblGrid>
                <a:gridCol w="4373239"/>
                <a:gridCol w="3648559"/>
                <a:gridCol w="1655691"/>
                <a:gridCol w="7543711"/>
              </a:tblGrid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KPI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Formula / Source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Business Significance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Registrations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COUNT(DOL Vehicle ID)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101,275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Base denominator for all KPI calculations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BEV Adoption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COUNT(BEV) / COUNT(All)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68.7%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Tracks electrification maturity vs. transitional PHEVs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Avg Electric Range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AVG(Electric Range)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107.5 mi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Measures fleet-wide technology progress; tracks range anxiety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CAFV Eligibility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COUNT(Eligible) / COUNT(All)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82.1%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Validates incentive program reach; flags 17.9% policy gap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Tesla Market Share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COUNT(Tesla) / COUNT(All)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23.9%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Brand dominance signal for competitive and infrastructure planning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King County Share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COUNT(King) / COUNT(All)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46.0%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Geographic concentration risk indicator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Luxury Segment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COUNT(Luxury) / COUNT(All)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36.0%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Equity signal — high = income-skewed adoption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Avg Utility Complexity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AVG(Utility_Complexity_Score)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1.86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Infrastructure friction proxy — rural friction hotspot identifier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EDA Insights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3727" y="1913887"/>
            <a:ext cx="5627113" cy="3450841"/>
            <a:chOff x="0" y="0"/>
            <a:chExt cx="7502817" cy="46011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8509"/>
              <a:ext cx="7485888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02906" cy="4601210"/>
            </a:xfrm>
            <a:custGeom>
              <a:avLst/>
              <a:gdLst/>
              <a:ahLst/>
              <a:cxnLst/>
              <a:rect r="r" b="b" t="t" l="l"/>
              <a:pathLst>
                <a:path h="4601210" w="7502906">
                  <a:moveTo>
                    <a:pt x="8509" y="0"/>
                  </a:moveTo>
                  <a:lnTo>
                    <a:pt x="7494397" y="0"/>
                  </a:lnTo>
                  <a:cubicBezTo>
                    <a:pt x="7499096" y="0"/>
                    <a:pt x="7502906" y="3810"/>
                    <a:pt x="7502906" y="8509"/>
                  </a:cubicBezTo>
                  <a:lnTo>
                    <a:pt x="7502906" y="4592701"/>
                  </a:lnTo>
                  <a:cubicBezTo>
                    <a:pt x="7502906" y="4597400"/>
                    <a:pt x="7499096" y="4601210"/>
                    <a:pt x="7494397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94397" y="4584192"/>
                  </a:lnTo>
                  <a:lnTo>
                    <a:pt x="7494397" y="4592701"/>
                  </a:lnTo>
                  <a:lnTo>
                    <a:pt x="7485888" y="4592701"/>
                  </a:lnTo>
                  <a:lnTo>
                    <a:pt x="7485888" y="8509"/>
                  </a:lnTo>
                  <a:lnTo>
                    <a:pt x="7494397" y="8509"/>
                  </a:lnTo>
                  <a:lnTo>
                    <a:pt x="7494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1920240"/>
            <a:ext cx="5614416" cy="128016"/>
            <a:chOff x="0" y="0"/>
            <a:chExt cx="7485888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85888" cy="170688"/>
            </a:xfrm>
            <a:custGeom>
              <a:avLst/>
              <a:gdLst/>
              <a:ahLst/>
              <a:cxnLst/>
              <a:rect r="r" b="b" t="t" l="l"/>
              <a:pathLst>
                <a:path h="1706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2157984"/>
            <a:ext cx="5157216" cy="548640"/>
            <a:chOff x="0" y="0"/>
            <a:chExt cx="6876288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87628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S-Curve Adoption Pattern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2761488"/>
            <a:ext cx="5157216" cy="438912"/>
            <a:chOff x="0" y="0"/>
            <a:chExt cx="6876288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76288" cy="585216"/>
            </a:xfrm>
            <a:custGeom>
              <a:avLst/>
              <a:gdLst/>
              <a:ahLst/>
              <a:cxnLst/>
              <a:rect r="r" b="b" t="t" l="l"/>
              <a:pathLst>
                <a:path h="585216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87628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13,956 registrations (2018)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9323" y="3231899"/>
            <a:ext cx="4984499" cy="10163"/>
            <a:chOff x="0" y="0"/>
            <a:chExt cx="6645999" cy="135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731" y="0"/>
              <a:ext cx="6632448" cy="13589"/>
            </a:xfrm>
            <a:custGeom>
              <a:avLst/>
              <a:gdLst/>
              <a:ahLst/>
              <a:cxnLst/>
              <a:rect r="r" b="b" t="t" l="l"/>
              <a:pathLst>
                <a:path h="13589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3346704"/>
            <a:ext cx="5157216" cy="1828800"/>
            <a:chOff x="0" y="0"/>
            <a:chExt cx="6876288" cy="243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762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47" r="0" b="-49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6876288" cy="2533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Near-zero pre-2010. LEAF democratised BEV in 2013–16. Tesla Model 3 launch (2018–19) triggered exponential growth. 2020–21 supply chain dip; 2022+ resumed rapid ascent.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31023" y="1913887"/>
            <a:ext cx="5627113" cy="3450841"/>
            <a:chOff x="0" y="0"/>
            <a:chExt cx="7502817" cy="46011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8509"/>
              <a:ext cx="7485888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02906" cy="4601210"/>
            </a:xfrm>
            <a:custGeom>
              <a:avLst/>
              <a:gdLst/>
              <a:ahLst/>
              <a:cxnLst/>
              <a:rect r="r" b="b" t="t" l="l"/>
              <a:pathLst>
                <a:path h="4601210" w="7502906">
                  <a:moveTo>
                    <a:pt x="8509" y="0"/>
                  </a:moveTo>
                  <a:lnTo>
                    <a:pt x="7494397" y="0"/>
                  </a:lnTo>
                  <a:cubicBezTo>
                    <a:pt x="7499096" y="0"/>
                    <a:pt x="7502906" y="3810"/>
                    <a:pt x="7502906" y="8509"/>
                  </a:cubicBezTo>
                  <a:lnTo>
                    <a:pt x="7502906" y="4592701"/>
                  </a:lnTo>
                  <a:cubicBezTo>
                    <a:pt x="7502906" y="4597400"/>
                    <a:pt x="7499096" y="4601210"/>
                    <a:pt x="7494397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94397" y="4584192"/>
                  </a:lnTo>
                  <a:lnTo>
                    <a:pt x="7494397" y="4592701"/>
                  </a:lnTo>
                  <a:lnTo>
                    <a:pt x="7485888" y="4592701"/>
                  </a:lnTo>
                  <a:lnTo>
                    <a:pt x="7485888" y="8509"/>
                  </a:lnTo>
                  <a:lnTo>
                    <a:pt x="7494397" y="8509"/>
                  </a:lnTo>
                  <a:lnTo>
                    <a:pt x="7494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437376" y="1920240"/>
            <a:ext cx="5614416" cy="128016"/>
            <a:chOff x="0" y="0"/>
            <a:chExt cx="7485888" cy="1706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85888" cy="170688"/>
            </a:xfrm>
            <a:custGeom>
              <a:avLst/>
              <a:gdLst/>
              <a:ahLst/>
              <a:cxnLst/>
              <a:rect r="r" b="b" t="t" l="l"/>
              <a:pathLst>
                <a:path h="1706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711696" y="2157984"/>
            <a:ext cx="5157216" cy="548640"/>
            <a:chOff x="0" y="0"/>
            <a:chExt cx="6876288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87628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Range Gap — BEV vs PHEV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711696" y="2761488"/>
            <a:ext cx="5157216" cy="438912"/>
            <a:chOff x="0" y="0"/>
            <a:chExt cx="6876288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76288" cy="585216"/>
            </a:xfrm>
            <a:custGeom>
              <a:avLst/>
              <a:gdLst/>
              <a:ahLst/>
              <a:cxnLst/>
              <a:rect r="r" b="b" t="t" l="l"/>
              <a:pathLst>
                <a:path h="585216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7628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BEV avg: 200 mi  |  PHEV avg: 32 mi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706619" y="3231899"/>
            <a:ext cx="4984499" cy="10163"/>
            <a:chOff x="0" y="0"/>
            <a:chExt cx="6645999" cy="135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731" y="0"/>
              <a:ext cx="6632448" cy="13589"/>
            </a:xfrm>
            <a:custGeom>
              <a:avLst/>
              <a:gdLst/>
              <a:ahLst/>
              <a:cxnLst/>
              <a:rect r="r" b="b" t="t" l="l"/>
              <a:pathLst>
                <a:path h="13589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711696" y="3346704"/>
            <a:ext cx="5157216" cy="1828800"/>
            <a:chOff x="0" y="0"/>
            <a:chExt cx="6876288" cy="2438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762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47" r="0" b="-49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6876288" cy="2533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BEVs cluster in 100–337 mi (Regional Traveler / Long Range). PHEVs cluster at 20–50 mi (Urban Commuter). Bimodal distribution confirms distinct use-case segments.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28319" y="1913887"/>
            <a:ext cx="5627113" cy="3450841"/>
            <a:chOff x="0" y="0"/>
            <a:chExt cx="7502817" cy="46011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8509" y="8509"/>
              <a:ext cx="7485888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502906" cy="4601210"/>
            </a:xfrm>
            <a:custGeom>
              <a:avLst/>
              <a:gdLst/>
              <a:ahLst/>
              <a:cxnLst/>
              <a:rect r="r" b="b" t="t" l="l"/>
              <a:pathLst>
                <a:path h="4601210" w="7502906">
                  <a:moveTo>
                    <a:pt x="8509" y="0"/>
                  </a:moveTo>
                  <a:lnTo>
                    <a:pt x="7494397" y="0"/>
                  </a:lnTo>
                  <a:cubicBezTo>
                    <a:pt x="7499096" y="0"/>
                    <a:pt x="7502906" y="3810"/>
                    <a:pt x="7502906" y="8509"/>
                  </a:cubicBezTo>
                  <a:lnTo>
                    <a:pt x="7502906" y="4592701"/>
                  </a:lnTo>
                  <a:cubicBezTo>
                    <a:pt x="7502906" y="4597400"/>
                    <a:pt x="7499096" y="4601210"/>
                    <a:pt x="7494397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94397" y="4584192"/>
                  </a:lnTo>
                  <a:lnTo>
                    <a:pt x="7494397" y="4592701"/>
                  </a:lnTo>
                  <a:lnTo>
                    <a:pt x="7485888" y="4592701"/>
                  </a:lnTo>
                  <a:lnTo>
                    <a:pt x="7485888" y="8509"/>
                  </a:lnTo>
                  <a:lnTo>
                    <a:pt x="7494397" y="8509"/>
                  </a:lnTo>
                  <a:lnTo>
                    <a:pt x="7494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234672" y="1920240"/>
            <a:ext cx="5614416" cy="128016"/>
            <a:chOff x="0" y="0"/>
            <a:chExt cx="7485888" cy="1706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485888" cy="170688"/>
            </a:xfrm>
            <a:custGeom>
              <a:avLst/>
              <a:gdLst/>
              <a:ahLst/>
              <a:cxnLst/>
              <a:rect r="r" b="b" t="t" l="l"/>
              <a:pathLst>
                <a:path h="1706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508992" y="2157984"/>
            <a:ext cx="5157216" cy="548640"/>
            <a:chOff x="0" y="0"/>
            <a:chExt cx="6876288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87628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Geographic Concentration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508992" y="2761488"/>
            <a:ext cx="5157216" cy="438912"/>
            <a:chOff x="0" y="0"/>
            <a:chExt cx="6876288" cy="5852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76288" cy="585216"/>
            </a:xfrm>
            <a:custGeom>
              <a:avLst/>
              <a:gdLst/>
              <a:ahLst/>
              <a:cxnLst/>
              <a:rect r="r" b="b" t="t" l="l"/>
              <a:pathLst>
                <a:path h="585216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87628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King Co.: 46.0%  |  Top 3: 65.1%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503915" y="3231899"/>
            <a:ext cx="4984499" cy="10163"/>
            <a:chOff x="0" y="0"/>
            <a:chExt cx="6645999" cy="1355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6731" y="0"/>
              <a:ext cx="6632448" cy="13589"/>
            </a:xfrm>
            <a:custGeom>
              <a:avLst/>
              <a:gdLst/>
              <a:ahLst/>
              <a:cxnLst/>
              <a:rect r="r" b="b" t="t" l="l"/>
              <a:pathLst>
                <a:path h="13589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508992" y="3346704"/>
            <a:ext cx="5157216" cy="1828800"/>
            <a:chOff x="0" y="0"/>
            <a:chExt cx="6876288" cy="2438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762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47" r="0" b="-494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0"/>
              <a:ext cx="6876288" cy="2533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King (46,605) → Snohomish (10,718) → Pierce (8,590) → Clark (6,814). Top 5 counties hold 76% of registrations. Sparse coverage east of the Cascades.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33727" y="5534911"/>
            <a:ext cx="5627113" cy="3450841"/>
            <a:chOff x="0" y="0"/>
            <a:chExt cx="7502817" cy="460112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7485888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02906" cy="4601210"/>
            </a:xfrm>
            <a:custGeom>
              <a:avLst/>
              <a:gdLst/>
              <a:ahLst/>
              <a:cxnLst/>
              <a:rect r="r" b="b" t="t" l="l"/>
              <a:pathLst>
                <a:path h="4601210" w="7502906">
                  <a:moveTo>
                    <a:pt x="8509" y="0"/>
                  </a:moveTo>
                  <a:lnTo>
                    <a:pt x="7494397" y="0"/>
                  </a:lnTo>
                  <a:cubicBezTo>
                    <a:pt x="7499096" y="0"/>
                    <a:pt x="7502906" y="3810"/>
                    <a:pt x="7502906" y="8509"/>
                  </a:cubicBezTo>
                  <a:lnTo>
                    <a:pt x="7502906" y="4592701"/>
                  </a:lnTo>
                  <a:cubicBezTo>
                    <a:pt x="7502906" y="4597400"/>
                    <a:pt x="7499096" y="4601210"/>
                    <a:pt x="7494397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94397" y="4584192"/>
                  </a:lnTo>
                  <a:lnTo>
                    <a:pt x="7494397" y="4592701"/>
                  </a:lnTo>
                  <a:lnTo>
                    <a:pt x="7485888" y="4592701"/>
                  </a:lnTo>
                  <a:lnTo>
                    <a:pt x="7485888" y="8509"/>
                  </a:lnTo>
                  <a:lnTo>
                    <a:pt x="7494397" y="8509"/>
                  </a:lnTo>
                  <a:lnTo>
                    <a:pt x="7494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40080" y="5541264"/>
            <a:ext cx="5614416" cy="128016"/>
            <a:chOff x="0" y="0"/>
            <a:chExt cx="7485888" cy="1706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485888" cy="170688"/>
            </a:xfrm>
            <a:custGeom>
              <a:avLst/>
              <a:gdLst/>
              <a:ahLst/>
              <a:cxnLst/>
              <a:rect r="r" b="b" t="t" l="l"/>
              <a:pathLst>
                <a:path h="1706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14400" y="5779008"/>
            <a:ext cx="5157216" cy="548640"/>
            <a:chOff x="0" y="0"/>
            <a:chExt cx="6876288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87628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Tesla Structural Dominance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4400" y="6382512"/>
            <a:ext cx="5157216" cy="438912"/>
            <a:chOff x="0" y="0"/>
            <a:chExt cx="6876288" cy="5852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76288" cy="585216"/>
            </a:xfrm>
            <a:custGeom>
              <a:avLst/>
              <a:gdLst/>
              <a:ahLst/>
              <a:cxnLst/>
              <a:rect r="r" b="b" t="t" l="l"/>
              <a:pathLst>
                <a:path h="585216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87628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24,182 registrations — 23.9% share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09323" y="6852923"/>
            <a:ext cx="4984499" cy="10163"/>
            <a:chOff x="0" y="0"/>
            <a:chExt cx="6645999" cy="135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6731" y="0"/>
              <a:ext cx="6632448" cy="13589"/>
            </a:xfrm>
            <a:custGeom>
              <a:avLst/>
              <a:gdLst/>
              <a:ahLst/>
              <a:cxnLst/>
              <a:rect r="r" b="b" t="t" l="l"/>
              <a:pathLst>
                <a:path h="13589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14400" y="6967728"/>
            <a:ext cx="5157216" cy="1828800"/>
            <a:chOff x="0" y="0"/>
            <a:chExt cx="6876288" cy="2438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8762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47" r="0" b="-494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0"/>
              <a:ext cx="6876288" cy="2533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3 alone: 13,199 (54.6% of Tesla fleet). Model S: 5,470. No competitor exceeds 10%. Model 3 registrations exceed all Chevrolet EV models combined.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431023" y="5534911"/>
            <a:ext cx="5627113" cy="3450841"/>
            <a:chOff x="0" y="0"/>
            <a:chExt cx="7502817" cy="460112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509" y="8509"/>
              <a:ext cx="7485888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502906" cy="4601210"/>
            </a:xfrm>
            <a:custGeom>
              <a:avLst/>
              <a:gdLst/>
              <a:ahLst/>
              <a:cxnLst/>
              <a:rect r="r" b="b" t="t" l="l"/>
              <a:pathLst>
                <a:path h="4601210" w="7502906">
                  <a:moveTo>
                    <a:pt x="8509" y="0"/>
                  </a:moveTo>
                  <a:lnTo>
                    <a:pt x="7494397" y="0"/>
                  </a:lnTo>
                  <a:cubicBezTo>
                    <a:pt x="7499096" y="0"/>
                    <a:pt x="7502906" y="3810"/>
                    <a:pt x="7502906" y="8509"/>
                  </a:cubicBezTo>
                  <a:lnTo>
                    <a:pt x="7502906" y="4592701"/>
                  </a:lnTo>
                  <a:cubicBezTo>
                    <a:pt x="7502906" y="4597400"/>
                    <a:pt x="7499096" y="4601210"/>
                    <a:pt x="7494397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94397" y="4584192"/>
                  </a:lnTo>
                  <a:lnTo>
                    <a:pt x="7494397" y="4592701"/>
                  </a:lnTo>
                  <a:lnTo>
                    <a:pt x="7485888" y="4592701"/>
                  </a:lnTo>
                  <a:lnTo>
                    <a:pt x="7485888" y="8509"/>
                  </a:lnTo>
                  <a:lnTo>
                    <a:pt x="7494397" y="8509"/>
                  </a:lnTo>
                  <a:lnTo>
                    <a:pt x="7494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437376" y="5541264"/>
            <a:ext cx="5614416" cy="128016"/>
            <a:chOff x="0" y="0"/>
            <a:chExt cx="7485888" cy="17068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485888" cy="170688"/>
            </a:xfrm>
            <a:custGeom>
              <a:avLst/>
              <a:gdLst/>
              <a:ahLst/>
              <a:cxnLst/>
              <a:rect r="r" b="b" t="t" l="l"/>
              <a:pathLst>
                <a:path h="1706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711696" y="5779008"/>
            <a:ext cx="5157216" cy="548640"/>
            <a:chOff x="0" y="0"/>
            <a:chExt cx="6876288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87628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Adoption Wave Velocity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711696" y="6382512"/>
            <a:ext cx="5157216" cy="438912"/>
            <a:chOff x="0" y="0"/>
            <a:chExt cx="6876288" cy="58521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76288" cy="585216"/>
            </a:xfrm>
            <a:custGeom>
              <a:avLst/>
              <a:gdLst/>
              <a:ahLst/>
              <a:cxnLst/>
              <a:rect r="r" b="b" t="t" l="l"/>
              <a:pathLst>
                <a:path h="585216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87628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Mass Adoption (2021+): 37,644 in 4 yrs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706619" y="6852923"/>
            <a:ext cx="4984499" cy="10163"/>
            <a:chOff x="0" y="0"/>
            <a:chExt cx="6645999" cy="1355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6731" y="0"/>
              <a:ext cx="6632448" cy="13589"/>
            </a:xfrm>
            <a:custGeom>
              <a:avLst/>
              <a:gdLst/>
              <a:ahLst/>
              <a:cxnLst/>
              <a:rect r="r" b="b" t="t" l="l"/>
              <a:pathLst>
                <a:path h="13589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711696" y="6967728"/>
            <a:ext cx="5157216" cy="1828800"/>
            <a:chOff x="0" y="0"/>
            <a:chExt cx="6876288" cy="24384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8762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47" r="0" b="-494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0"/>
              <a:ext cx="6876288" cy="2533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Early: 13,468 (13.3%) · Growth: 50,163 (49.5%) · Mass Adoption: 37,644 (37.2%). Mass wave outpaces Growth wave on a per-year basis — tipping point crossed.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228319" y="5534911"/>
            <a:ext cx="5627113" cy="3450841"/>
            <a:chOff x="0" y="0"/>
            <a:chExt cx="7502817" cy="460112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8509" y="8509"/>
              <a:ext cx="7485888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502906" cy="4601210"/>
            </a:xfrm>
            <a:custGeom>
              <a:avLst/>
              <a:gdLst/>
              <a:ahLst/>
              <a:cxnLst/>
              <a:rect r="r" b="b" t="t" l="l"/>
              <a:pathLst>
                <a:path h="4601210" w="7502906">
                  <a:moveTo>
                    <a:pt x="8509" y="0"/>
                  </a:moveTo>
                  <a:lnTo>
                    <a:pt x="7494397" y="0"/>
                  </a:lnTo>
                  <a:cubicBezTo>
                    <a:pt x="7499096" y="0"/>
                    <a:pt x="7502906" y="3810"/>
                    <a:pt x="7502906" y="8509"/>
                  </a:cubicBezTo>
                  <a:lnTo>
                    <a:pt x="7502906" y="4592701"/>
                  </a:lnTo>
                  <a:cubicBezTo>
                    <a:pt x="7502906" y="4597400"/>
                    <a:pt x="7499096" y="4601210"/>
                    <a:pt x="7494397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94397" y="4584192"/>
                  </a:lnTo>
                  <a:lnTo>
                    <a:pt x="7494397" y="4592701"/>
                  </a:lnTo>
                  <a:lnTo>
                    <a:pt x="7485888" y="4592701"/>
                  </a:lnTo>
                  <a:lnTo>
                    <a:pt x="7485888" y="8509"/>
                  </a:lnTo>
                  <a:lnTo>
                    <a:pt x="7494397" y="8509"/>
                  </a:lnTo>
                  <a:lnTo>
                    <a:pt x="7494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234672" y="5541264"/>
            <a:ext cx="5614416" cy="128016"/>
            <a:chOff x="0" y="0"/>
            <a:chExt cx="7485888" cy="17068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485888" cy="170688"/>
            </a:xfrm>
            <a:custGeom>
              <a:avLst/>
              <a:gdLst/>
              <a:ahLst/>
              <a:cxnLst/>
              <a:rect r="r" b="b" t="t" l="l"/>
              <a:pathLst>
                <a:path h="1706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508992" y="5779008"/>
            <a:ext cx="5157216" cy="548640"/>
            <a:chOff x="0" y="0"/>
            <a:chExt cx="6876288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687628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Market Accessibility Gap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508992" y="6382512"/>
            <a:ext cx="5157216" cy="438912"/>
            <a:chOff x="0" y="0"/>
            <a:chExt cx="6876288" cy="58521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876288" cy="585216"/>
            </a:xfrm>
            <a:custGeom>
              <a:avLst/>
              <a:gdLst/>
              <a:ahLst/>
              <a:cxnLst/>
              <a:rect r="r" b="b" t="t" l="l"/>
              <a:pathLst>
                <a:path h="585216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687628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Luxury: 36.0%  |  Mass Market: 64.0%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503915" y="6852923"/>
            <a:ext cx="4984499" cy="10163"/>
            <a:chOff x="0" y="0"/>
            <a:chExt cx="6645999" cy="1355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6731" y="0"/>
              <a:ext cx="6632448" cy="13589"/>
            </a:xfrm>
            <a:custGeom>
              <a:avLst/>
              <a:gdLst/>
              <a:ahLst/>
              <a:cxnLst/>
              <a:rect r="r" b="b" t="t" l="l"/>
              <a:pathLst>
                <a:path h="13589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508992" y="6967728"/>
            <a:ext cx="5157216" cy="1828800"/>
            <a:chOff x="0" y="0"/>
            <a:chExt cx="6876288" cy="2438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8762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47" r="0" b="-494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0"/>
              <a:ext cx="6876288" cy="2533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Tesla, BMW, Audi, Porsche represent 36% of fleet. CAFV eligibility 76.1% (Eligible: 77,118). 23.9% unknown/ineligible — predominantly short-range PHEVs. Equity gap persists.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Statistical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3727" y="1913887"/>
            <a:ext cx="17294857" cy="2536441"/>
            <a:chOff x="0" y="0"/>
            <a:chExt cx="23059809" cy="33819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8509"/>
              <a:ext cx="23042881" cy="3364992"/>
            </a:xfrm>
            <a:custGeom>
              <a:avLst/>
              <a:gdLst/>
              <a:ahLst/>
              <a:cxnLst/>
              <a:rect r="r" b="b" t="t" l="l"/>
              <a:pathLst>
                <a:path h="3364992" w="23042881">
                  <a:moveTo>
                    <a:pt x="0" y="0"/>
                  </a:moveTo>
                  <a:lnTo>
                    <a:pt x="23042881" y="0"/>
                  </a:lnTo>
                  <a:lnTo>
                    <a:pt x="23042881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59898" cy="3382010"/>
            </a:xfrm>
            <a:custGeom>
              <a:avLst/>
              <a:gdLst/>
              <a:ahLst/>
              <a:cxnLst/>
              <a:rect r="r" b="b" t="t" l="l"/>
              <a:pathLst>
                <a:path h="3382010" w="23059898">
                  <a:moveTo>
                    <a:pt x="8509" y="0"/>
                  </a:moveTo>
                  <a:lnTo>
                    <a:pt x="23051390" y="0"/>
                  </a:lnTo>
                  <a:cubicBezTo>
                    <a:pt x="23056089" y="0"/>
                    <a:pt x="23059898" y="3810"/>
                    <a:pt x="23059898" y="8509"/>
                  </a:cubicBezTo>
                  <a:lnTo>
                    <a:pt x="23059898" y="3373501"/>
                  </a:lnTo>
                  <a:cubicBezTo>
                    <a:pt x="23059898" y="3378200"/>
                    <a:pt x="23056089" y="3382010"/>
                    <a:pt x="23051390" y="3382010"/>
                  </a:cubicBezTo>
                  <a:lnTo>
                    <a:pt x="8509" y="3382010"/>
                  </a:lnTo>
                  <a:cubicBezTo>
                    <a:pt x="3810" y="3382010"/>
                    <a:pt x="0" y="3378200"/>
                    <a:pt x="0" y="3373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73501"/>
                  </a:lnTo>
                  <a:lnTo>
                    <a:pt x="8509" y="3373501"/>
                  </a:lnTo>
                  <a:lnTo>
                    <a:pt x="8509" y="3364992"/>
                  </a:lnTo>
                  <a:lnTo>
                    <a:pt x="23051390" y="3364992"/>
                  </a:lnTo>
                  <a:lnTo>
                    <a:pt x="23051390" y="3373501"/>
                  </a:lnTo>
                  <a:lnTo>
                    <a:pt x="23042880" y="3373501"/>
                  </a:lnTo>
                  <a:lnTo>
                    <a:pt x="23042880" y="8509"/>
                  </a:lnTo>
                  <a:lnTo>
                    <a:pt x="23051390" y="8509"/>
                  </a:lnTo>
                  <a:lnTo>
                    <a:pt x="23051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1920240"/>
            <a:ext cx="182880" cy="2523744"/>
            <a:chOff x="0" y="0"/>
            <a:chExt cx="243840" cy="33649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60704" y="2066544"/>
            <a:ext cx="1280160" cy="512064"/>
            <a:chOff x="0" y="0"/>
            <a:chExt cx="170688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06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31136" y="2066544"/>
            <a:ext cx="9692640" cy="512064"/>
            <a:chOff x="0" y="0"/>
            <a:chExt cx="1292352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923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Pearson Correlation — Model Year vs Electric Range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52960" y="2103120"/>
            <a:ext cx="5486400" cy="402336"/>
            <a:chOff x="0" y="0"/>
            <a:chExt cx="731520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3152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04_statistical_analysis.ipynb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56894" y="2684526"/>
            <a:ext cx="7505700" cy="483108"/>
            <a:chOff x="0" y="0"/>
            <a:chExt cx="10007600" cy="644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080" y="508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07600" cy="644144"/>
            </a:xfrm>
            <a:custGeom>
              <a:avLst/>
              <a:gdLst/>
              <a:ahLst/>
              <a:cxnLst/>
              <a:rect r="r" b="b" t="t" l="l"/>
              <a:pathLst>
                <a:path h="644144" w="10007600">
                  <a:moveTo>
                    <a:pt x="5080" y="0"/>
                  </a:moveTo>
                  <a:lnTo>
                    <a:pt x="10002520" y="0"/>
                  </a:lnTo>
                  <a:cubicBezTo>
                    <a:pt x="10005313" y="0"/>
                    <a:pt x="10007600" y="2286"/>
                    <a:pt x="10007600" y="5080"/>
                  </a:cubicBezTo>
                  <a:lnTo>
                    <a:pt x="10007600" y="639064"/>
                  </a:lnTo>
                  <a:cubicBezTo>
                    <a:pt x="10007600" y="641858"/>
                    <a:pt x="10005313" y="644144"/>
                    <a:pt x="10002520" y="644144"/>
                  </a:cubicBezTo>
                  <a:lnTo>
                    <a:pt x="5080" y="644144"/>
                  </a:lnTo>
                  <a:cubicBezTo>
                    <a:pt x="22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639064"/>
                  </a:lnTo>
                  <a:lnTo>
                    <a:pt x="5080" y="639064"/>
                  </a:lnTo>
                  <a:lnTo>
                    <a:pt x="5080" y="633984"/>
                  </a:lnTo>
                  <a:lnTo>
                    <a:pt x="10002520" y="633984"/>
                  </a:lnTo>
                  <a:lnTo>
                    <a:pt x="10002520" y="639064"/>
                  </a:lnTo>
                  <a:lnTo>
                    <a:pt x="9997439" y="639064"/>
                  </a:lnTo>
                  <a:lnTo>
                    <a:pt x="9997439" y="5080"/>
                  </a:lnTo>
                  <a:lnTo>
                    <a:pt x="10002520" y="5080"/>
                  </a:lnTo>
                  <a:lnTo>
                    <a:pt x="1000252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3856" y="2706624"/>
            <a:ext cx="7315200" cy="420624"/>
            <a:chOff x="0" y="0"/>
            <a:chExt cx="9753600" cy="5608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560832"/>
            </a:xfrm>
            <a:custGeom>
              <a:avLst/>
              <a:gdLst/>
              <a:ahLst/>
              <a:cxnLst/>
              <a:rect r="r" b="b" t="t" l="l"/>
              <a:pathLst>
                <a:path h="56083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870" r="0" b="-2888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75360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  r = −0.268 (negative — Vehicle Age direction)  |  p-value &lt; 0.0001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0704" y="3273552"/>
            <a:ext cx="9875520" cy="1005840"/>
            <a:chOff x="0" y="0"/>
            <a:chExt cx="13167360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1673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307" r="0" b="-14130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1316736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Statistically significant: newer model years deliver measurably higher range. Battery technology is improving over time at a rate confirmed by the data.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064240" y="2688336"/>
            <a:ext cx="6675120" cy="1645920"/>
            <a:chOff x="0" y="0"/>
            <a:chExt cx="8900160" cy="2194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00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890016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6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Mean range grew from 77.3 mi (2013) to 160+ mi (2024) — a 2× improvement in 11 model years. Pearson r on Vehicle Age vs Range = +0.268 (positive with age = inverse of year).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33727" y="4657087"/>
            <a:ext cx="17294857" cy="2536441"/>
            <a:chOff x="0" y="0"/>
            <a:chExt cx="23059809" cy="338192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8509" y="8509"/>
              <a:ext cx="23042881" cy="3364992"/>
            </a:xfrm>
            <a:custGeom>
              <a:avLst/>
              <a:gdLst/>
              <a:ahLst/>
              <a:cxnLst/>
              <a:rect r="r" b="b" t="t" l="l"/>
              <a:pathLst>
                <a:path h="3364992" w="23042881">
                  <a:moveTo>
                    <a:pt x="0" y="0"/>
                  </a:moveTo>
                  <a:lnTo>
                    <a:pt x="23042881" y="0"/>
                  </a:lnTo>
                  <a:lnTo>
                    <a:pt x="23042881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059898" cy="3382010"/>
            </a:xfrm>
            <a:custGeom>
              <a:avLst/>
              <a:gdLst/>
              <a:ahLst/>
              <a:cxnLst/>
              <a:rect r="r" b="b" t="t" l="l"/>
              <a:pathLst>
                <a:path h="3382010" w="23059898">
                  <a:moveTo>
                    <a:pt x="8509" y="0"/>
                  </a:moveTo>
                  <a:lnTo>
                    <a:pt x="23051390" y="0"/>
                  </a:lnTo>
                  <a:cubicBezTo>
                    <a:pt x="23056089" y="0"/>
                    <a:pt x="23059898" y="3810"/>
                    <a:pt x="23059898" y="8509"/>
                  </a:cubicBezTo>
                  <a:lnTo>
                    <a:pt x="23059898" y="3373501"/>
                  </a:lnTo>
                  <a:cubicBezTo>
                    <a:pt x="23059898" y="3378200"/>
                    <a:pt x="23056089" y="3382010"/>
                    <a:pt x="23051390" y="3382010"/>
                  </a:cubicBezTo>
                  <a:lnTo>
                    <a:pt x="8509" y="3382010"/>
                  </a:lnTo>
                  <a:cubicBezTo>
                    <a:pt x="3810" y="3382010"/>
                    <a:pt x="0" y="3378200"/>
                    <a:pt x="0" y="3373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73501"/>
                  </a:lnTo>
                  <a:lnTo>
                    <a:pt x="8509" y="3373501"/>
                  </a:lnTo>
                  <a:lnTo>
                    <a:pt x="8509" y="3364992"/>
                  </a:lnTo>
                  <a:lnTo>
                    <a:pt x="23051390" y="3364992"/>
                  </a:lnTo>
                  <a:lnTo>
                    <a:pt x="23051390" y="3373501"/>
                  </a:lnTo>
                  <a:lnTo>
                    <a:pt x="23042880" y="3373501"/>
                  </a:lnTo>
                  <a:lnTo>
                    <a:pt x="23042880" y="8509"/>
                  </a:lnTo>
                  <a:lnTo>
                    <a:pt x="23051390" y="8509"/>
                  </a:lnTo>
                  <a:lnTo>
                    <a:pt x="23051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40080" y="4663440"/>
            <a:ext cx="182880" cy="2523744"/>
            <a:chOff x="0" y="0"/>
            <a:chExt cx="243840" cy="33649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8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60704" y="4809744"/>
            <a:ext cx="1280160" cy="512064"/>
            <a:chOff x="0" y="0"/>
            <a:chExt cx="170688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706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231136" y="4809744"/>
            <a:ext cx="9692640" cy="512064"/>
            <a:chOff x="0" y="0"/>
            <a:chExt cx="1292352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2923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Independent T-Test — Luxury vs. Mass Market Electric Range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252960" y="4846320"/>
            <a:ext cx="5486400" cy="402336"/>
            <a:chOff x="0" y="0"/>
            <a:chExt cx="7315200" cy="5364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3152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04_statistical_analysis.ipynb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56894" y="5427726"/>
            <a:ext cx="7505700" cy="483108"/>
            <a:chOff x="0" y="0"/>
            <a:chExt cx="10007600" cy="6441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80" y="508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07600" cy="644144"/>
            </a:xfrm>
            <a:custGeom>
              <a:avLst/>
              <a:gdLst/>
              <a:ahLst/>
              <a:cxnLst/>
              <a:rect r="r" b="b" t="t" l="l"/>
              <a:pathLst>
                <a:path h="644144" w="10007600">
                  <a:moveTo>
                    <a:pt x="5080" y="0"/>
                  </a:moveTo>
                  <a:lnTo>
                    <a:pt x="10002520" y="0"/>
                  </a:lnTo>
                  <a:cubicBezTo>
                    <a:pt x="10005313" y="0"/>
                    <a:pt x="10007600" y="2286"/>
                    <a:pt x="10007600" y="5080"/>
                  </a:cubicBezTo>
                  <a:lnTo>
                    <a:pt x="10007600" y="639064"/>
                  </a:lnTo>
                  <a:cubicBezTo>
                    <a:pt x="10007600" y="641858"/>
                    <a:pt x="10005313" y="644144"/>
                    <a:pt x="10002520" y="644144"/>
                  </a:cubicBezTo>
                  <a:lnTo>
                    <a:pt x="5080" y="644144"/>
                  </a:lnTo>
                  <a:cubicBezTo>
                    <a:pt x="22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639064"/>
                  </a:lnTo>
                  <a:lnTo>
                    <a:pt x="5080" y="639064"/>
                  </a:lnTo>
                  <a:lnTo>
                    <a:pt x="5080" y="633984"/>
                  </a:lnTo>
                  <a:lnTo>
                    <a:pt x="10002520" y="633984"/>
                  </a:lnTo>
                  <a:lnTo>
                    <a:pt x="10002520" y="639064"/>
                  </a:lnTo>
                  <a:lnTo>
                    <a:pt x="9997439" y="639064"/>
                  </a:lnTo>
                  <a:lnTo>
                    <a:pt x="9997439" y="5080"/>
                  </a:lnTo>
                  <a:lnTo>
                    <a:pt x="10002520" y="5080"/>
                  </a:lnTo>
                  <a:lnTo>
                    <a:pt x="1000252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33856" y="5449824"/>
            <a:ext cx="7315200" cy="420624"/>
            <a:chOff x="0" y="0"/>
            <a:chExt cx="9753600" cy="5608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53600" cy="560832"/>
            </a:xfrm>
            <a:custGeom>
              <a:avLst/>
              <a:gdLst/>
              <a:ahLst/>
              <a:cxnLst/>
              <a:rect r="r" b="b" t="t" l="l"/>
              <a:pathLst>
                <a:path h="56083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870" r="0" b="-28887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75360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  T-Statistic = 190.15  |  p-value ≈ 0.0000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60704" y="6016752"/>
            <a:ext cx="9875520" cy="1005840"/>
            <a:chOff x="0" y="0"/>
            <a:chExt cx="13167360" cy="1341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1673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307" r="0" b="-14130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0"/>
              <a:ext cx="1316736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Luxury vehicles maintain a statistically significant range advantage. The premium is real, not just branding — mass-market incentive programs should bridge this range gap.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064240" y="5431536"/>
            <a:ext cx="6675120" cy="1645920"/>
            <a:chOff x="0" y="0"/>
            <a:chExt cx="8900160" cy="21945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900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76200"/>
              <a:ext cx="890016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6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Tesla avg: 241.5 mi · Chevrolet avg: 151.7 mi · Nissan avg: 106.2 mi · BMW avg: 44.4 mi · KIA avg: 68.8 mi. BEV avg: 199.9 mi vs PHEV avg: ~32 mi.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33727" y="7400287"/>
            <a:ext cx="17294857" cy="2536441"/>
            <a:chOff x="0" y="0"/>
            <a:chExt cx="23059809" cy="338192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8509" y="8509"/>
              <a:ext cx="23042881" cy="3364992"/>
            </a:xfrm>
            <a:custGeom>
              <a:avLst/>
              <a:gdLst/>
              <a:ahLst/>
              <a:cxnLst/>
              <a:rect r="r" b="b" t="t" l="l"/>
              <a:pathLst>
                <a:path h="3364992" w="23042881">
                  <a:moveTo>
                    <a:pt x="0" y="0"/>
                  </a:moveTo>
                  <a:lnTo>
                    <a:pt x="23042881" y="0"/>
                  </a:lnTo>
                  <a:lnTo>
                    <a:pt x="23042881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059898" cy="3382010"/>
            </a:xfrm>
            <a:custGeom>
              <a:avLst/>
              <a:gdLst/>
              <a:ahLst/>
              <a:cxnLst/>
              <a:rect r="r" b="b" t="t" l="l"/>
              <a:pathLst>
                <a:path h="3382010" w="23059898">
                  <a:moveTo>
                    <a:pt x="8509" y="0"/>
                  </a:moveTo>
                  <a:lnTo>
                    <a:pt x="23051390" y="0"/>
                  </a:lnTo>
                  <a:cubicBezTo>
                    <a:pt x="23056089" y="0"/>
                    <a:pt x="23059898" y="3810"/>
                    <a:pt x="23059898" y="8509"/>
                  </a:cubicBezTo>
                  <a:lnTo>
                    <a:pt x="23059898" y="3373501"/>
                  </a:lnTo>
                  <a:cubicBezTo>
                    <a:pt x="23059898" y="3378200"/>
                    <a:pt x="23056089" y="3382010"/>
                    <a:pt x="23051390" y="3382010"/>
                  </a:cubicBezTo>
                  <a:lnTo>
                    <a:pt x="8509" y="3382010"/>
                  </a:lnTo>
                  <a:cubicBezTo>
                    <a:pt x="3810" y="3382010"/>
                    <a:pt x="0" y="3378200"/>
                    <a:pt x="0" y="3373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73501"/>
                  </a:lnTo>
                  <a:lnTo>
                    <a:pt x="8509" y="3373501"/>
                  </a:lnTo>
                  <a:lnTo>
                    <a:pt x="8509" y="3364992"/>
                  </a:lnTo>
                  <a:lnTo>
                    <a:pt x="23051390" y="3364992"/>
                  </a:lnTo>
                  <a:lnTo>
                    <a:pt x="23051390" y="3373501"/>
                  </a:lnTo>
                  <a:lnTo>
                    <a:pt x="23042880" y="3373501"/>
                  </a:lnTo>
                  <a:lnTo>
                    <a:pt x="23042880" y="8509"/>
                  </a:lnTo>
                  <a:lnTo>
                    <a:pt x="23051390" y="8509"/>
                  </a:lnTo>
                  <a:lnTo>
                    <a:pt x="23051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40080" y="7406640"/>
            <a:ext cx="182880" cy="2523744"/>
            <a:chOff x="0" y="0"/>
            <a:chExt cx="243840" cy="33649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60704" y="7552944"/>
            <a:ext cx="1280160" cy="512064"/>
            <a:chOff x="0" y="0"/>
            <a:chExt cx="170688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706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231136" y="7552944"/>
            <a:ext cx="9692640" cy="512064"/>
            <a:chOff x="0" y="0"/>
            <a:chExt cx="1292352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2923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One-Way ANOVA — Utility Complexity Score across Adoption Waves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252960" y="7589520"/>
            <a:ext cx="5486400" cy="402336"/>
            <a:chOff x="0" y="0"/>
            <a:chExt cx="7315200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1520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73152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04_statistical_analysis.ipynb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56894" y="8170926"/>
            <a:ext cx="7505700" cy="483108"/>
            <a:chOff x="0" y="0"/>
            <a:chExt cx="10007600" cy="64414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5080" y="5080"/>
              <a:ext cx="9997440" cy="633984"/>
            </a:xfrm>
            <a:custGeom>
              <a:avLst/>
              <a:gdLst/>
              <a:ahLst/>
              <a:cxnLst/>
              <a:rect r="r" b="b" t="t" l="l"/>
              <a:pathLst>
                <a:path h="6339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007600" cy="644144"/>
            </a:xfrm>
            <a:custGeom>
              <a:avLst/>
              <a:gdLst/>
              <a:ahLst/>
              <a:cxnLst/>
              <a:rect r="r" b="b" t="t" l="l"/>
              <a:pathLst>
                <a:path h="644144" w="10007600">
                  <a:moveTo>
                    <a:pt x="5080" y="0"/>
                  </a:moveTo>
                  <a:lnTo>
                    <a:pt x="10002520" y="0"/>
                  </a:lnTo>
                  <a:cubicBezTo>
                    <a:pt x="10005313" y="0"/>
                    <a:pt x="10007600" y="2286"/>
                    <a:pt x="10007600" y="5080"/>
                  </a:cubicBezTo>
                  <a:lnTo>
                    <a:pt x="10007600" y="639064"/>
                  </a:lnTo>
                  <a:cubicBezTo>
                    <a:pt x="10007600" y="641858"/>
                    <a:pt x="10005313" y="644144"/>
                    <a:pt x="10002520" y="644144"/>
                  </a:cubicBezTo>
                  <a:lnTo>
                    <a:pt x="5080" y="644144"/>
                  </a:lnTo>
                  <a:cubicBezTo>
                    <a:pt x="2286" y="644144"/>
                    <a:pt x="0" y="641858"/>
                    <a:pt x="0" y="63906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639064"/>
                  </a:lnTo>
                  <a:lnTo>
                    <a:pt x="5080" y="639064"/>
                  </a:lnTo>
                  <a:lnTo>
                    <a:pt x="5080" y="633984"/>
                  </a:lnTo>
                  <a:lnTo>
                    <a:pt x="10002520" y="633984"/>
                  </a:lnTo>
                  <a:lnTo>
                    <a:pt x="10002520" y="639064"/>
                  </a:lnTo>
                  <a:lnTo>
                    <a:pt x="9997439" y="639064"/>
                  </a:lnTo>
                  <a:lnTo>
                    <a:pt x="9997439" y="5080"/>
                  </a:lnTo>
                  <a:lnTo>
                    <a:pt x="10002520" y="5080"/>
                  </a:lnTo>
                  <a:lnTo>
                    <a:pt x="1000252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33856" y="8193024"/>
            <a:ext cx="7315200" cy="420624"/>
            <a:chOff x="0" y="0"/>
            <a:chExt cx="9753600" cy="56083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53600" cy="560832"/>
            </a:xfrm>
            <a:custGeom>
              <a:avLst/>
              <a:gdLst/>
              <a:ahLst/>
              <a:cxnLst/>
              <a:rect r="r" b="b" t="t" l="l"/>
              <a:pathLst>
                <a:path h="56083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870" r="0" b="-28887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75360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  F-Statistic = 14.44  |  p-value &lt; 0.0001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60704" y="8759952"/>
            <a:ext cx="9875520" cy="1005840"/>
            <a:chOff x="0" y="0"/>
            <a:chExt cx="13167360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1673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307" r="0" b="-14130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0"/>
              <a:ext cx="1316736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Grid administrative complexity has varied significantly across EV adoption eras. Rural counties (Asotin, Mason, Jefferson) scoring 3.0 signal a coordination bottleneck.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064240" y="8174736"/>
            <a:ext cx="6675120" cy="1645920"/>
            <a:chOff x="0" y="0"/>
            <a:chExt cx="8900160" cy="21945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900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76200"/>
              <a:ext cx="890016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6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Utility Complexity Scores: 1 (24.7%) · 2 (65.4%) · 3 (9.1%) · 4 (0.8%). Mean = 1.86. Rural high-friction counties have fewest EVs today — reactive investment will be costly.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Tableau Dashboard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8173" y="1901190"/>
            <a:ext cx="5865373" cy="4390644"/>
            <a:chOff x="0" y="0"/>
            <a:chExt cx="7820498" cy="58541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6356" y="25400"/>
              <a:ext cx="7767785" cy="5803392"/>
            </a:xfrm>
            <a:custGeom>
              <a:avLst/>
              <a:gdLst/>
              <a:ahLst/>
              <a:cxnLst/>
              <a:rect r="r" b="b" t="t" l="l"/>
              <a:pathLst>
                <a:path h="5803392" w="7767785">
                  <a:moveTo>
                    <a:pt x="0" y="0"/>
                  </a:moveTo>
                  <a:lnTo>
                    <a:pt x="7767785" y="0"/>
                  </a:lnTo>
                  <a:lnTo>
                    <a:pt x="7767785" y="5803392"/>
                  </a:lnTo>
                  <a:lnTo>
                    <a:pt x="0" y="5803392"/>
                  </a:lnTo>
                  <a:close/>
                </a:path>
              </a:pathLst>
            </a:custGeom>
            <a:blipFill>
              <a:blip r:embed="rId3"/>
              <a:stretch>
                <a:fillRect l="-9229" t="-437" r="-9210" b="-445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20498" cy="5854192"/>
            </a:xfrm>
            <a:custGeom>
              <a:avLst/>
              <a:gdLst/>
              <a:ahLst/>
              <a:cxnLst/>
              <a:rect r="r" b="b" t="t" l="l"/>
              <a:pathLst>
                <a:path h="5854192" w="7820498">
                  <a:moveTo>
                    <a:pt x="26356" y="0"/>
                  </a:moveTo>
                  <a:lnTo>
                    <a:pt x="7794141" y="0"/>
                  </a:lnTo>
                  <a:cubicBezTo>
                    <a:pt x="7808637" y="0"/>
                    <a:pt x="7820498" y="11430"/>
                    <a:pt x="7820498" y="25400"/>
                  </a:cubicBezTo>
                  <a:lnTo>
                    <a:pt x="7820498" y="5828792"/>
                  </a:lnTo>
                  <a:cubicBezTo>
                    <a:pt x="7820498" y="5842762"/>
                    <a:pt x="7808637" y="5854192"/>
                    <a:pt x="7794141" y="5854192"/>
                  </a:cubicBezTo>
                  <a:lnTo>
                    <a:pt x="26356" y="5854192"/>
                  </a:lnTo>
                  <a:cubicBezTo>
                    <a:pt x="11860" y="5854192"/>
                    <a:pt x="0" y="5842762"/>
                    <a:pt x="0" y="5828792"/>
                  </a:cubicBezTo>
                  <a:lnTo>
                    <a:pt x="0" y="25400"/>
                  </a:lnTo>
                  <a:cubicBezTo>
                    <a:pt x="0" y="11430"/>
                    <a:pt x="11860" y="0"/>
                    <a:pt x="26356" y="0"/>
                  </a:cubicBezTo>
                  <a:moveTo>
                    <a:pt x="26356" y="50800"/>
                  </a:moveTo>
                  <a:lnTo>
                    <a:pt x="26356" y="25400"/>
                  </a:lnTo>
                  <a:lnTo>
                    <a:pt x="52713" y="25400"/>
                  </a:lnTo>
                  <a:lnTo>
                    <a:pt x="52713" y="5828792"/>
                  </a:lnTo>
                  <a:lnTo>
                    <a:pt x="26356" y="5828792"/>
                  </a:lnTo>
                  <a:lnTo>
                    <a:pt x="26356" y="5803392"/>
                  </a:lnTo>
                  <a:lnTo>
                    <a:pt x="7794141" y="5803392"/>
                  </a:lnTo>
                  <a:lnTo>
                    <a:pt x="7794141" y="5828792"/>
                  </a:lnTo>
                  <a:lnTo>
                    <a:pt x="7767785" y="5828792"/>
                  </a:lnTo>
                  <a:lnTo>
                    <a:pt x="7767785" y="25400"/>
                  </a:lnTo>
                  <a:lnTo>
                    <a:pt x="7794141" y="25400"/>
                  </a:lnTo>
                  <a:lnTo>
                    <a:pt x="7794141" y="50800"/>
                  </a:lnTo>
                  <a:lnTo>
                    <a:pt x="26356" y="508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3727" y="6431023"/>
            <a:ext cx="5627113" cy="3450841"/>
            <a:chOff x="0" y="0"/>
            <a:chExt cx="7502817" cy="4601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7485888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02906" cy="4601210"/>
            </a:xfrm>
            <a:custGeom>
              <a:avLst/>
              <a:gdLst/>
              <a:ahLst/>
              <a:cxnLst/>
              <a:rect r="r" b="b" t="t" l="l"/>
              <a:pathLst>
                <a:path h="4601210" w="7502906">
                  <a:moveTo>
                    <a:pt x="8509" y="0"/>
                  </a:moveTo>
                  <a:lnTo>
                    <a:pt x="7494397" y="0"/>
                  </a:lnTo>
                  <a:cubicBezTo>
                    <a:pt x="7499096" y="0"/>
                    <a:pt x="7502906" y="3810"/>
                    <a:pt x="7502906" y="8509"/>
                  </a:cubicBezTo>
                  <a:lnTo>
                    <a:pt x="7502906" y="4592701"/>
                  </a:lnTo>
                  <a:cubicBezTo>
                    <a:pt x="7502906" y="4597400"/>
                    <a:pt x="7499096" y="4601210"/>
                    <a:pt x="7494397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94397" y="4584192"/>
                  </a:lnTo>
                  <a:lnTo>
                    <a:pt x="7494397" y="4592701"/>
                  </a:lnTo>
                  <a:lnTo>
                    <a:pt x="7485888" y="4592701"/>
                  </a:lnTo>
                  <a:lnTo>
                    <a:pt x="7485888" y="8509"/>
                  </a:lnTo>
                  <a:lnTo>
                    <a:pt x="7494397" y="8509"/>
                  </a:lnTo>
                  <a:lnTo>
                    <a:pt x="7494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6437376"/>
            <a:ext cx="5614416" cy="128016"/>
            <a:chOff x="0" y="0"/>
            <a:chExt cx="7485888" cy="1706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85888" cy="170688"/>
            </a:xfrm>
            <a:custGeom>
              <a:avLst/>
              <a:gdLst/>
              <a:ahLst/>
              <a:cxnLst/>
              <a:rect r="r" b="b" t="t" l="l"/>
              <a:pathLst>
                <a:path h="1706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9536" y="6583680"/>
            <a:ext cx="5285232" cy="512064"/>
            <a:chOff x="0" y="0"/>
            <a:chExt cx="7046976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6976" cy="682752"/>
            </a:xfrm>
            <a:custGeom>
              <a:avLst/>
              <a:gdLst/>
              <a:ahLst/>
              <a:cxnLst/>
              <a:rect r="r" b="b" t="t" l="l"/>
              <a:pathLst>
                <a:path h="682752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113" r="0" b="-15111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046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EV Adoption Pulse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9536" y="7095744"/>
            <a:ext cx="5285232" cy="365760"/>
            <a:chOff x="0" y="0"/>
            <a:chExt cx="7046976" cy="487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6976" cy="487680"/>
            </a:xfrm>
            <a:custGeom>
              <a:avLst/>
              <a:gdLst/>
              <a:ahLst/>
              <a:cxnLst/>
              <a:rect r="r" b="b" t="t" l="l"/>
              <a:pathLst>
                <a:path h="487680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558" r="0" b="-23155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046976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EXECUTIVE OVERVIEW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9536" y="7498080"/>
            <a:ext cx="5285232" cy="384048"/>
            <a:chOff x="0" y="0"/>
            <a:chExt cx="7046976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KPI banner cards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59536" y="7900416"/>
            <a:ext cx="5285232" cy="384048"/>
            <a:chOff x="0" y="0"/>
            <a:chExt cx="7046976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BEV vs PHEV stacked area by year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59536" y="8302752"/>
            <a:ext cx="5285232" cy="384048"/>
            <a:chOff x="0" y="0"/>
            <a:chExt cx="7046976" cy="5120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10 manufacturers bar chart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59536" y="8705088"/>
            <a:ext cx="5285232" cy="384048"/>
            <a:chOff x="0" y="0"/>
            <a:chExt cx="7046976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Vehicle type donut (68.7% BEV)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59536" y="9107424"/>
            <a:ext cx="5285232" cy="384048"/>
            <a:chOff x="0" y="0"/>
            <a:chExt cx="7046976" cy="5120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Adoption Wave × Market Segment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9536" y="9509760"/>
            <a:ext cx="5285232" cy="384048"/>
            <a:chOff x="0" y="0"/>
            <a:chExt cx="7046976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Filters: Make, EV Type, Year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418326" y="1901190"/>
            <a:ext cx="5652516" cy="4390644"/>
            <a:chOff x="0" y="0"/>
            <a:chExt cx="7536688" cy="58541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5400" y="25400"/>
              <a:ext cx="7485888" cy="5803392"/>
            </a:xfrm>
            <a:custGeom>
              <a:avLst/>
              <a:gdLst/>
              <a:ahLst/>
              <a:cxnLst/>
              <a:rect r="r" b="b" t="t" l="l"/>
              <a:pathLst>
                <a:path h="58033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5803392"/>
                  </a:lnTo>
                  <a:lnTo>
                    <a:pt x="0" y="5803392"/>
                  </a:lnTo>
                  <a:close/>
                </a:path>
              </a:pathLst>
            </a:custGeom>
            <a:blipFill>
              <a:blip r:embed="rId4"/>
              <a:stretch>
                <a:fillRect l="-28379" t="0" r="-28379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536688" cy="5854192"/>
            </a:xfrm>
            <a:custGeom>
              <a:avLst/>
              <a:gdLst/>
              <a:ahLst/>
              <a:cxnLst/>
              <a:rect r="r" b="b" t="t" l="l"/>
              <a:pathLst>
                <a:path h="5854192" w="7536688">
                  <a:moveTo>
                    <a:pt x="25400" y="0"/>
                  </a:moveTo>
                  <a:lnTo>
                    <a:pt x="7511288" y="0"/>
                  </a:lnTo>
                  <a:cubicBezTo>
                    <a:pt x="7525258" y="0"/>
                    <a:pt x="7536688" y="11430"/>
                    <a:pt x="7536688" y="25400"/>
                  </a:cubicBezTo>
                  <a:lnTo>
                    <a:pt x="7536688" y="5828792"/>
                  </a:lnTo>
                  <a:cubicBezTo>
                    <a:pt x="7536688" y="5842762"/>
                    <a:pt x="7525258" y="5854192"/>
                    <a:pt x="7511288" y="5854192"/>
                  </a:cubicBezTo>
                  <a:lnTo>
                    <a:pt x="25400" y="5854192"/>
                  </a:lnTo>
                  <a:cubicBezTo>
                    <a:pt x="11430" y="5854192"/>
                    <a:pt x="0" y="5842762"/>
                    <a:pt x="0" y="582879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828792"/>
                  </a:lnTo>
                  <a:lnTo>
                    <a:pt x="25400" y="5828792"/>
                  </a:lnTo>
                  <a:lnTo>
                    <a:pt x="25400" y="5803392"/>
                  </a:lnTo>
                  <a:lnTo>
                    <a:pt x="7511288" y="5803392"/>
                  </a:lnTo>
                  <a:lnTo>
                    <a:pt x="7511288" y="5828792"/>
                  </a:lnTo>
                  <a:lnTo>
                    <a:pt x="7485888" y="5828792"/>
                  </a:lnTo>
                  <a:lnTo>
                    <a:pt x="7485888" y="25400"/>
                  </a:lnTo>
                  <a:lnTo>
                    <a:pt x="7511288" y="25400"/>
                  </a:lnTo>
                  <a:lnTo>
                    <a:pt x="751128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431023" y="6431023"/>
            <a:ext cx="5627113" cy="3450841"/>
            <a:chOff x="0" y="0"/>
            <a:chExt cx="7502817" cy="460112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8509" y="8509"/>
              <a:ext cx="7485888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02906" cy="4601210"/>
            </a:xfrm>
            <a:custGeom>
              <a:avLst/>
              <a:gdLst/>
              <a:ahLst/>
              <a:cxnLst/>
              <a:rect r="r" b="b" t="t" l="l"/>
              <a:pathLst>
                <a:path h="4601210" w="7502906">
                  <a:moveTo>
                    <a:pt x="8509" y="0"/>
                  </a:moveTo>
                  <a:lnTo>
                    <a:pt x="7494397" y="0"/>
                  </a:lnTo>
                  <a:cubicBezTo>
                    <a:pt x="7499096" y="0"/>
                    <a:pt x="7502906" y="3810"/>
                    <a:pt x="7502906" y="8509"/>
                  </a:cubicBezTo>
                  <a:lnTo>
                    <a:pt x="7502906" y="4592701"/>
                  </a:lnTo>
                  <a:cubicBezTo>
                    <a:pt x="7502906" y="4597400"/>
                    <a:pt x="7499096" y="4601210"/>
                    <a:pt x="7494397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94397" y="4584192"/>
                  </a:lnTo>
                  <a:lnTo>
                    <a:pt x="7494397" y="4592701"/>
                  </a:lnTo>
                  <a:lnTo>
                    <a:pt x="7485888" y="4592701"/>
                  </a:lnTo>
                  <a:lnTo>
                    <a:pt x="7485888" y="8509"/>
                  </a:lnTo>
                  <a:lnTo>
                    <a:pt x="7494397" y="8509"/>
                  </a:lnTo>
                  <a:lnTo>
                    <a:pt x="7494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437376" y="6437376"/>
            <a:ext cx="5614416" cy="128016"/>
            <a:chOff x="0" y="0"/>
            <a:chExt cx="7485888" cy="1706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85888" cy="170688"/>
            </a:xfrm>
            <a:custGeom>
              <a:avLst/>
              <a:gdLst/>
              <a:ahLst/>
              <a:cxnLst/>
              <a:rect r="r" b="b" t="t" l="l"/>
              <a:pathLst>
                <a:path h="1706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656832" y="6583680"/>
            <a:ext cx="5285232" cy="512064"/>
            <a:chOff x="0" y="0"/>
            <a:chExt cx="7046976" cy="6827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046976" cy="682752"/>
            </a:xfrm>
            <a:custGeom>
              <a:avLst/>
              <a:gdLst/>
              <a:ahLst/>
              <a:cxnLst/>
              <a:rect r="r" b="b" t="t" l="l"/>
              <a:pathLst>
                <a:path h="682752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113" r="0" b="-15111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046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Geographic Intelligence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656832" y="7095744"/>
            <a:ext cx="5285232" cy="365760"/>
            <a:chOff x="0" y="0"/>
            <a:chExt cx="7046976" cy="487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46976" cy="487680"/>
            </a:xfrm>
            <a:custGeom>
              <a:avLst/>
              <a:gdLst/>
              <a:ahLst/>
              <a:cxnLst/>
              <a:rect r="r" b="b" t="t" l="l"/>
              <a:pathLst>
                <a:path h="487680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558" r="0" b="-23155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046976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REGIONAL MAP VIEW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56832" y="7498080"/>
            <a:ext cx="5285232" cy="384048"/>
            <a:chOff x="0" y="0"/>
            <a:chExt cx="7046976" cy="512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 count bubble map by county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656832" y="7900416"/>
            <a:ext cx="5285232" cy="384048"/>
            <a:chOff x="0" y="0"/>
            <a:chExt cx="7046976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Dot density map (Lat/Long scatter)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656832" y="8302752"/>
            <a:ext cx="5285232" cy="384048"/>
            <a:chOff x="0" y="0"/>
            <a:chExt cx="7046976" cy="5120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10 counties BEV vs PHEV bar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656832" y="8705088"/>
            <a:ext cx="5285232" cy="384048"/>
            <a:chOff x="0" y="0"/>
            <a:chExt cx="7046976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Infrastructure friction by county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656832" y="9107424"/>
            <a:ext cx="5285232" cy="384048"/>
            <a:chOff x="0" y="0"/>
            <a:chExt cx="7046976" cy="5120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Key: rural counties score 3.0 friction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656832" y="9509760"/>
            <a:ext cx="5285232" cy="384048"/>
            <a:chOff x="0" y="0"/>
            <a:chExt cx="7046976" cy="5120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Filters: County, EV Type, map click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15622" y="1901190"/>
            <a:ext cx="5652516" cy="4390644"/>
            <a:chOff x="0" y="0"/>
            <a:chExt cx="7536688" cy="585419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25400" y="25400"/>
              <a:ext cx="7485888" cy="5803392"/>
            </a:xfrm>
            <a:custGeom>
              <a:avLst/>
              <a:gdLst/>
              <a:ahLst/>
              <a:cxnLst/>
              <a:rect r="r" b="b" t="t" l="l"/>
              <a:pathLst>
                <a:path h="58033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5803392"/>
                  </a:lnTo>
                  <a:lnTo>
                    <a:pt x="0" y="5803392"/>
                  </a:lnTo>
                  <a:close/>
                </a:path>
              </a:pathLst>
            </a:custGeom>
            <a:blipFill>
              <a:blip r:embed="rId5"/>
              <a:stretch>
                <a:fillRect l="-7156" t="0" r="-7156" b="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536688" cy="5854192"/>
            </a:xfrm>
            <a:custGeom>
              <a:avLst/>
              <a:gdLst/>
              <a:ahLst/>
              <a:cxnLst/>
              <a:rect r="r" b="b" t="t" l="l"/>
              <a:pathLst>
                <a:path h="5854192" w="7536688">
                  <a:moveTo>
                    <a:pt x="25400" y="0"/>
                  </a:moveTo>
                  <a:lnTo>
                    <a:pt x="7511288" y="0"/>
                  </a:lnTo>
                  <a:cubicBezTo>
                    <a:pt x="7525258" y="0"/>
                    <a:pt x="7536688" y="11430"/>
                    <a:pt x="7536688" y="25400"/>
                  </a:cubicBezTo>
                  <a:lnTo>
                    <a:pt x="7536688" y="5828792"/>
                  </a:lnTo>
                  <a:cubicBezTo>
                    <a:pt x="7536688" y="5842762"/>
                    <a:pt x="7525258" y="5854192"/>
                    <a:pt x="7511288" y="5854192"/>
                  </a:cubicBezTo>
                  <a:lnTo>
                    <a:pt x="25400" y="5854192"/>
                  </a:lnTo>
                  <a:cubicBezTo>
                    <a:pt x="11430" y="5854192"/>
                    <a:pt x="0" y="5842762"/>
                    <a:pt x="0" y="582879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828792"/>
                  </a:lnTo>
                  <a:lnTo>
                    <a:pt x="25400" y="5828792"/>
                  </a:lnTo>
                  <a:lnTo>
                    <a:pt x="25400" y="5803392"/>
                  </a:lnTo>
                  <a:lnTo>
                    <a:pt x="7511288" y="5803392"/>
                  </a:lnTo>
                  <a:lnTo>
                    <a:pt x="7511288" y="5828792"/>
                  </a:lnTo>
                  <a:lnTo>
                    <a:pt x="7485888" y="5828792"/>
                  </a:lnTo>
                  <a:lnTo>
                    <a:pt x="7485888" y="25400"/>
                  </a:lnTo>
                  <a:lnTo>
                    <a:pt x="7511288" y="25400"/>
                  </a:lnTo>
                  <a:lnTo>
                    <a:pt x="751128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228319" y="6431023"/>
            <a:ext cx="5627113" cy="3450841"/>
            <a:chOff x="0" y="0"/>
            <a:chExt cx="7502817" cy="460112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8509" y="8509"/>
              <a:ext cx="7485888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502906" cy="4601210"/>
            </a:xfrm>
            <a:custGeom>
              <a:avLst/>
              <a:gdLst/>
              <a:ahLst/>
              <a:cxnLst/>
              <a:rect r="r" b="b" t="t" l="l"/>
              <a:pathLst>
                <a:path h="4601210" w="7502906">
                  <a:moveTo>
                    <a:pt x="8509" y="0"/>
                  </a:moveTo>
                  <a:lnTo>
                    <a:pt x="7494397" y="0"/>
                  </a:lnTo>
                  <a:cubicBezTo>
                    <a:pt x="7499096" y="0"/>
                    <a:pt x="7502906" y="3810"/>
                    <a:pt x="7502906" y="8509"/>
                  </a:cubicBezTo>
                  <a:lnTo>
                    <a:pt x="7502906" y="4592701"/>
                  </a:lnTo>
                  <a:cubicBezTo>
                    <a:pt x="7502906" y="4597400"/>
                    <a:pt x="7499096" y="4601210"/>
                    <a:pt x="7494397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94397" y="4584192"/>
                  </a:lnTo>
                  <a:lnTo>
                    <a:pt x="7494397" y="4592701"/>
                  </a:lnTo>
                  <a:lnTo>
                    <a:pt x="7485888" y="4592701"/>
                  </a:lnTo>
                  <a:lnTo>
                    <a:pt x="7485888" y="8509"/>
                  </a:lnTo>
                  <a:lnTo>
                    <a:pt x="7494397" y="8509"/>
                  </a:lnTo>
                  <a:lnTo>
                    <a:pt x="749439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234672" y="6437376"/>
            <a:ext cx="5614416" cy="128016"/>
            <a:chOff x="0" y="0"/>
            <a:chExt cx="7485888" cy="17068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485888" cy="170688"/>
            </a:xfrm>
            <a:custGeom>
              <a:avLst/>
              <a:gdLst/>
              <a:ahLst/>
              <a:cxnLst/>
              <a:rect r="r" b="b" t="t" l="l"/>
              <a:pathLst>
                <a:path h="17068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454128" y="6583680"/>
            <a:ext cx="5285232" cy="512064"/>
            <a:chOff x="0" y="0"/>
            <a:chExt cx="7046976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046976" cy="682752"/>
            </a:xfrm>
            <a:custGeom>
              <a:avLst/>
              <a:gdLst/>
              <a:ahLst/>
              <a:cxnLst/>
              <a:rect r="r" b="b" t="t" l="l"/>
              <a:pathLst>
                <a:path h="682752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113" r="0" b="-15111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04697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Market &amp; Technology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454128" y="7095744"/>
            <a:ext cx="5285232" cy="365760"/>
            <a:chOff x="0" y="0"/>
            <a:chExt cx="7046976" cy="48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046976" cy="487680"/>
            </a:xfrm>
            <a:custGeom>
              <a:avLst/>
              <a:gdLst/>
              <a:ahLst/>
              <a:cxnLst/>
              <a:rect r="r" b="b" t="t" l="l"/>
              <a:pathLst>
                <a:path h="487680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558" r="0" b="-23155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046976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DIVE ANALYSIS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454128" y="7498080"/>
            <a:ext cx="5285232" cy="384048"/>
            <a:chOff x="0" y="0"/>
            <a:chExt cx="7046976" cy="5120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Brand BEV vs PHEV grouped bar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454128" y="7900416"/>
            <a:ext cx="5285232" cy="384048"/>
            <a:chOff x="0" y="0"/>
            <a:chExt cx="7046976" cy="51206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Battery evolution dual line chart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454128" y="8302752"/>
            <a:ext cx="5285232" cy="384048"/>
            <a:chOff x="0" y="0"/>
            <a:chExt cx="7046976" cy="5120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CAFV eligibility pie (82.1% eligible)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454128" y="8705088"/>
            <a:ext cx="5285232" cy="384048"/>
            <a:chOff x="0" y="0"/>
            <a:chExt cx="7046976" cy="51206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Range capability stacked area by year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454128" y="9107424"/>
            <a:ext cx="5285232" cy="384048"/>
            <a:chOff x="0" y="0"/>
            <a:chExt cx="7046976" cy="5120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treemap (Model 3 = largest)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454128" y="9509760"/>
            <a:ext cx="5285232" cy="384048"/>
            <a:chOff x="0" y="0"/>
            <a:chExt cx="7046976" cy="51206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046976" cy="512064"/>
            </a:xfrm>
            <a:custGeom>
              <a:avLst/>
              <a:gdLst/>
              <a:ahLst/>
              <a:cxnLst/>
              <a:rect r="r" b="b" t="t" l="l"/>
              <a:pathLst>
                <a:path h="512064" w="7046976">
                  <a:moveTo>
                    <a:pt x="0" y="0"/>
                  </a:moveTo>
                  <a:lnTo>
                    <a:pt x="7046976" y="0"/>
                  </a:lnTo>
                  <a:lnTo>
                    <a:pt x="7046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51" r="0" b="-21815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7046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Filters: Segment, Year, Make, Range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Decision Insights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3727" y="1913887"/>
            <a:ext cx="8425177" cy="3670297"/>
            <a:chOff x="0" y="0"/>
            <a:chExt cx="11233569" cy="48937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8509"/>
              <a:ext cx="11216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33658" cy="4893818"/>
            </a:xfrm>
            <a:custGeom>
              <a:avLst/>
              <a:gdLst/>
              <a:ahLst/>
              <a:cxnLst/>
              <a:rect r="r" b="b" t="t" l="l"/>
              <a:pathLst>
                <a:path h="48938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4885309"/>
                  </a:lnTo>
                  <a:cubicBezTo>
                    <a:pt x="11233658" y="4890008"/>
                    <a:pt x="11229848" y="4893818"/>
                    <a:pt x="11225149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11225149" y="4876800"/>
                  </a:lnTo>
                  <a:lnTo>
                    <a:pt x="11225149" y="4885309"/>
                  </a:lnTo>
                  <a:lnTo>
                    <a:pt x="11216640" y="48853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1920240"/>
            <a:ext cx="8412480" cy="128016"/>
            <a:chOff x="0" y="0"/>
            <a:chExt cx="11216640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0080" y="1920240"/>
            <a:ext cx="128016" cy="3657600"/>
            <a:chOff x="0" y="0"/>
            <a:chExt cx="170688" cy="4876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6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5840" y="2139696"/>
            <a:ext cx="7900416" cy="548640"/>
            <a:chOff x="0" y="0"/>
            <a:chExt cx="10533888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33888" cy="731520"/>
            </a:xfrm>
            <a:custGeom>
              <a:avLst/>
              <a:gdLst/>
              <a:ahLst/>
              <a:cxnLst/>
              <a:rect r="r" b="b" t="t" l="l"/>
              <a:pathLst>
                <a:path h="73152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584" r="0" b="-23058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53388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#1  BEV Technology Has Decisively Won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2030" y="2775966"/>
            <a:ext cx="7780020" cy="446532"/>
            <a:chOff x="0" y="0"/>
            <a:chExt cx="10373360" cy="5953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" y="5080"/>
              <a:ext cx="10363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73360" cy="595376"/>
            </a:xfrm>
            <a:custGeom>
              <a:avLst/>
              <a:gdLst/>
              <a:ahLst/>
              <a:cxnLst/>
              <a:rect r="r" b="b" t="t" l="l"/>
              <a:pathLst>
                <a:path h="595376" w="10373360">
                  <a:moveTo>
                    <a:pt x="5080" y="0"/>
                  </a:moveTo>
                  <a:lnTo>
                    <a:pt x="10368280" y="0"/>
                  </a:lnTo>
                  <a:cubicBezTo>
                    <a:pt x="10371074" y="0"/>
                    <a:pt x="10373360" y="2286"/>
                    <a:pt x="10373360" y="5080"/>
                  </a:cubicBezTo>
                  <a:lnTo>
                    <a:pt x="10373360" y="590296"/>
                  </a:lnTo>
                  <a:cubicBezTo>
                    <a:pt x="10373360" y="593090"/>
                    <a:pt x="10371074" y="595376"/>
                    <a:pt x="10368280" y="595376"/>
                  </a:cubicBezTo>
                  <a:lnTo>
                    <a:pt x="5080" y="595376"/>
                  </a:lnTo>
                  <a:cubicBezTo>
                    <a:pt x="2286" y="595376"/>
                    <a:pt x="0" y="593090"/>
                    <a:pt x="0" y="59029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590296"/>
                  </a:lnTo>
                  <a:lnTo>
                    <a:pt x="5080" y="590296"/>
                  </a:lnTo>
                  <a:lnTo>
                    <a:pt x="5080" y="585216"/>
                  </a:lnTo>
                  <a:lnTo>
                    <a:pt x="10368280" y="585216"/>
                  </a:lnTo>
                  <a:lnTo>
                    <a:pt x="10368280" y="590296"/>
                  </a:lnTo>
                  <a:lnTo>
                    <a:pt x="10363200" y="590296"/>
                  </a:lnTo>
                  <a:lnTo>
                    <a:pt x="10363200" y="5080"/>
                  </a:lnTo>
                  <a:lnTo>
                    <a:pt x="10368280" y="5080"/>
                  </a:lnTo>
                  <a:lnTo>
                    <a:pt x="10368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2798064"/>
            <a:ext cx="7644384" cy="402336"/>
            <a:chOff x="0" y="0"/>
            <a:chExt cx="10192512" cy="5364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92512" cy="536448"/>
            </a:xfrm>
            <a:custGeom>
              <a:avLst/>
              <a:gdLst/>
              <a:ahLst/>
              <a:cxnLst/>
              <a:rect r="r" b="b" t="t" l="l"/>
              <a:pathLst>
                <a:path h="536448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1925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BEV avg 200 mi vs PHEV avg 32 mi (T-stat = 190.15, p &lt; 0.0001)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5840" y="3346704"/>
            <a:ext cx="7900416" cy="2084832"/>
            <a:chOff x="0" y="0"/>
            <a:chExt cx="10533888" cy="27797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33888" cy="2779776"/>
            </a:xfrm>
            <a:custGeom>
              <a:avLst/>
              <a:gdLst/>
              <a:ahLst/>
              <a:cxnLst/>
              <a:rect r="r" b="b" t="t" l="l"/>
              <a:pathLst>
                <a:path h="277977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2779776"/>
                  </a:lnTo>
                  <a:lnTo>
                    <a:pt x="0" y="2779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38" r="0" b="-2383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10533888" cy="2894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8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PHEVs serve as a transition ramp but BEVs are the confirmed end-state. The 2× range improvement since 2013 (77 mi → 160+ mi by 2024) validates continued BEV investment.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11967" y="1913887"/>
            <a:ext cx="8425177" cy="3670297"/>
            <a:chOff x="0" y="0"/>
            <a:chExt cx="11233569" cy="48937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8509" y="8509"/>
              <a:ext cx="11216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233658" cy="4893818"/>
            </a:xfrm>
            <a:custGeom>
              <a:avLst/>
              <a:gdLst/>
              <a:ahLst/>
              <a:cxnLst/>
              <a:rect r="r" b="b" t="t" l="l"/>
              <a:pathLst>
                <a:path h="48938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4885309"/>
                  </a:lnTo>
                  <a:cubicBezTo>
                    <a:pt x="11233658" y="4890008"/>
                    <a:pt x="11229848" y="4893818"/>
                    <a:pt x="11225149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11225149" y="4876800"/>
                  </a:lnTo>
                  <a:lnTo>
                    <a:pt x="11225149" y="4885309"/>
                  </a:lnTo>
                  <a:lnTo>
                    <a:pt x="11216640" y="48853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418320" y="1920240"/>
            <a:ext cx="8412480" cy="128016"/>
            <a:chOff x="0" y="0"/>
            <a:chExt cx="11216640" cy="1706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18320" y="1920240"/>
            <a:ext cx="128016" cy="3657600"/>
            <a:chOff x="0" y="0"/>
            <a:chExt cx="170688" cy="4876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784080" y="2139696"/>
            <a:ext cx="7900416" cy="548640"/>
            <a:chOff x="0" y="0"/>
            <a:chExt cx="10533888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33888" cy="731520"/>
            </a:xfrm>
            <a:custGeom>
              <a:avLst/>
              <a:gdLst/>
              <a:ahLst/>
              <a:cxnLst/>
              <a:rect r="r" b="b" t="t" l="l"/>
              <a:pathLst>
                <a:path h="73152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584" r="0" b="-23058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53388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#2  Tesla's Dominance Is Structurally Unchallenged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80270" y="2775966"/>
            <a:ext cx="7780020" cy="446532"/>
            <a:chOff x="0" y="0"/>
            <a:chExt cx="10373360" cy="5953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080" y="5080"/>
              <a:ext cx="10363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73360" cy="595376"/>
            </a:xfrm>
            <a:custGeom>
              <a:avLst/>
              <a:gdLst/>
              <a:ahLst/>
              <a:cxnLst/>
              <a:rect r="r" b="b" t="t" l="l"/>
              <a:pathLst>
                <a:path h="595376" w="10373360">
                  <a:moveTo>
                    <a:pt x="5080" y="0"/>
                  </a:moveTo>
                  <a:lnTo>
                    <a:pt x="10368280" y="0"/>
                  </a:lnTo>
                  <a:cubicBezTo>
                    <a:pt x="10371074" y="0"/>
                    <a:pt x="10373360" y="2286"/>
                    <a:pt x="10373360" y="5080"/>
                  </a:cubicBezTo>
                  <a:lnTo>
                    <a:pt x="10373360" y="590296"/>
                  </a:lnTo>
                  <a:cubicBezTo>
                    <a:pt x="10373360" y="593090"/>
                    <a:pt x="10371074" y="595376"/>
                    <a:pt x="10368280" y="595376"/>
                  </a:cubicBezTo>
                  <a:lnTo>
                    <a:pt x="5080" y="595376"/>
                  </a:lnTo>
                  <a:cubicBezTo>
                    <a:pt x="2286" y="595376"/>
                    <a:pt x="0" y="593090"/>
                    <a:pt x="0" y="59029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590296"/>
                  </a:lnTo>
                  <a:lnTo>
                    <a:pt x="5080" y="590296"/>
                  </a:lnTo>
                  <a:lnTo>
                    <a:pt x="5080" y="585216"/>
                  </a:lnTo>
                  <a:lnTo>
                    <a:pt x="10368280" y="585216"/>
                  </a:lnTo>
                  <a:lnTo>
                    <a:pt x="10368280" y="590296"/>
                  </a:lnTo>
                  <a:lnTo>
                    <a:pt x="10363200" y="590296"/>
                  </a:lnTo>
                  <a:lnTo>
                    <a:pt x="10363200" y="5080"/>
                  </a:lnTo>
                  <a:lnTo>
                    <a:pt x="10368280" y="5080"/>
                  </a:lnTo>
                  <a:lnTo>
                    <a:pt x="10368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75520" y="2798064"/>
            <a:ext cx="7644384" cy="402336"/>
            <a:chOff x="0" y="0"/>
            <a:chExt cx="10192512" cy="5364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92512" cy="536448"/>
            </a:xfrm>
            <a:custGeom>
              <a:avLst/>
              <a:gdLst/>
              <a:ahLst/>
              <a:cxnLst/>
              <a:rect r="r" b="b" t="t" l="l"/>
              <a:pathLst>
                <a:path h="536448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1925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24,182 registrations — 2.5× Chevrolet (9,848), nearest rival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84080" y="3346704"/>
            <a:ext cx="7900416" cy="2084832"/>
            <a:chOff x="0" y="0"/>
            <a:chExt cx="10533888" cy="277977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533888" cy="2779776"/>
            </a:xfrm>
            <a:custGeom>
              <a:avLst/>
              <a:gdLst/>
              <a:ahLst/>
              <a:cxnLst/>
              <a:rect r="r" b="b" t="t" l="l"/>
              <a:pathLst>
                <a:path h="277977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2779776"/>
                  </a:lnTo>
                  <a:lnTo>
                    <a:pt x="0" y="2779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38" r="0" b="-2383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14300"/>
              <a:ext cx="10533888" cy="2894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8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3 alone (13,199 units) exceeds every Chevrolet EV model combined. No other brand exceeds 10% share. Tesla serves as the demand benchmark for infrastructure siting.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33727" y="5827519"/>
            <a:ext cx="8425177" cy="3670297"/>
            <a:chOff x="0" y="0"/>
            <a:chExt cx="11233569" cy="489372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8509" y="8509"/>
              <a:ext cx="11216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233658" cy="4893818"/>
            </a:xfrm>
            <a:custGeom>
              <a:avLst/>
              <a:gdLst/>
              <a:ahLst/>
              <a:cxnLst/>
              <a:rect r="r" b="b" t="t" l="l"/>
              <a:pathLst>
                <a:path h="48938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4885309"/>
                  </a:lnTo>
                  <a:cubicBezTo>
                    <a:pt x="11233658" y="4890008"/>
                    <a:pt x="11229848" y="4893818"/>
                    <a:pt x="11225149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11225149" y="4876800"/>
                  </a:lnTo>
                  <a:lnTo>
                    <a:pt x="11225149" y="4885309"/>
                  </a:lnTo>
                  <a:lnTo>
                    <a:pt x="11216640" y="48853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40080" y="5833872"/>
            <a:ext cx="8412480" cy="128016"/>
            <a:chOff x="0" y="0"/>
            <a:chExt cx="11216640" cy="1706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40080" y="5833872"/>
            <a:ext cx="128016" cy="3657600"/>
            <a:chOff x="0" y="0"/>
            <a:chExt cx="170688" cy="4876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06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05840" y="6053328"/>
            <a:ext cx="7900416" cy="548640"/>
            <a:chOff x="0" y="0"/>
            <a:chExt cx="10533888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533888" cy="731520"/>
            </a:xfrm>
            <a:custGeom>
              <a:avLst/>
              <a:gdLst/>
              <a:ahLst/>
              <a:cxnLst/>
              <a:rect r="r" b="b" t="t" l="l"/>
              <a:pathLst>
                <a:path h="73152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584" r="0" b="-23058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53388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#3  King County Hyper-Concentration = Infrastructure Risk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02030" y="6689598"/>
            <a:ext cx="7780020" cy="446532"/>
            <a:chOff x="0" y="0"/>
            <a:chExt cx="10373360" cy="5953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080" y="5080"/>
              <a:ext cx="10363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373360" cy="595376"/>
            </a:xfrm>
            <a:custGeom>
              <a:avLst/>
              <a:gdLst/>
              <a:ahLst/>
              <a:cxnLst/>
              <a:rect r="r" b="b" t="t" l="l"/>
              <a:pathLst>
                <a:path h="595376" w="10373360">
                  <a:moveTo>
                    <a:pt x="5080" y="0"/>
                  </a:moveTo>
                  <a:lnTo>
                    <a:pt x="10368280" y="0"/>
                  </a:lnTo>
                  <a:cubicBezTo>
                    <a:pt x="10371074" y="0"/>
                    <a:pt x="10373360" y="2286"/>
                    <a:pt x="10373360" y="5080"/>
                  </a:cubicBezTo>
                  <a:lnTo>
                    <a:pt x="10373360" y="590296"/>
                  </a:lnTo>
                  <a:cubicBezTo>
                    <a:pt x="10373360" y="593090"/>
                    <a:pt x="10371074" y="595376"/>
                    <a:pt x="10368280" y="595376"/>
                  </a:cubicBezTo>
                  <a:lnTo>
                    <a:pt x="5080" y="595376"/>
                  </a:lnTo>
                  <a:cubicBezTo>
                    <a:pt x="2286" y="595376"/>
                    <a:pt x="0" y="593090"/>
                    <a:pt x="0" y="59029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590296"/>
                  </a:lnTo>
                  <a:lnTo>
                    <a:pt x="5080" y="590296"/>
                  </a:lnTo>
                  <a:lnTo>
                    <a:pt x="5080" y="585216"/>
                  </a:lnTo>
                  <a:lnTo>
                    <a:pt x="10368280" y="585216"/>
                  </a:lnTo>
                  <a:lnTo>
                    <a:pt x="10368280" y="590296"/>
                  </a:lnTo>
                  <a:lnTo>
                    <a:pt x="10363200" y="590296"/>
                  </a:lnTo>
                  <a:lnTo>
                    <a:pt x="10363200" y="5080"/>
                  </a:lnTo>
                  <a:lnTo>
                    <a:pt x="10368280" y="5080"/>
                  </a:lnTo>
                  <a:lnTo>
                    <a:pt x="10368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97280" y="6711696"/>
            <a:ext cx="7644384" cy="402336"/>
            <a:chOff x="0" y="0"/>
            <a:chExt cx="10192512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92512" cy="536448"/>
            </a:xfrm>
            <a:custGeom>
              <a:avLst/>
              <a:gdLst/>
              <a:ahLst/>
              <a:cxnLst/>
              <a:rect r="r" b="b" t="t" l="l"/>
              <a:pathLst>
                <a:path h="536448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1925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46.0% of all EVs in one county — Snohomish &amp; Pierce highest-ROI next targets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05840" y="7260336"/>
            <a:ext cx="7900416" cy="2084832"/>
            <a:chOff x="0" y="0"/>
            <a:chExt cx="10533888" cy="277977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533888" cy="2779776"/>
            </a:xfrm>
            <a:custGeom>
              <a:avLst/>
              <a:gdLst/>
              <a:ahLst/>
              <a:cxnLst/>
              <a:rect r="r" b="b" t="t" l="l"/>
              <a:pathLst>
                <a:path h="277977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2779776"/>
                  </a:lnTo>
                  <a:lnTo>
                    <a:pt x="0" y="2779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38" r="0" b="-2383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14300"/>
              <a:ext cx="10533888" cy="2894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8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top 3 counties hold 65.1% of registrations. Any investment outside King metro is currently under-served. Snohomish and Pierce offer strongest marginal return on charging deployment.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11967" y="5827519"/>
            <a:ext cx="8425177" cy="3670297"/>
            <a:chOff x="0" y="0"/>
            <a:chExt cx="11233569" cy="489372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11216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33658" cy="4893818"/>
            </a:xfrm>
            <a:custGeom>
              <a:avLst/>
              <a:gdLst/>
              <a:ahLst/>
              <a:cxnLst/>
              <a:rect r="r" b="b" t="t" l="l"/>
              <a:pathLst>
                <a:path h="48938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4885309"/>
                  </a:lnTo>
                  <a:cubicBezTo>
                    <a:pt x="11233658" y="4890008"/>
                    <a:pt x="11229848" y="4893818"/>
                    <a:pt x="11225149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11225149" y="4876800"/>
                  </a:lnTo>
                  <a:lnTo>
                    <a:pt x="11225149" y="4885309"/>
                  </a:lnTo>
                  <a:lnTo>
                    <a:pt x="11216640" y="48853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18320" y="5833872"/>
            <a:ext cx="8412480" cy="128016"/>
            <a:chOff x="0" y="0"/>
            <a:chExt cx="11216640" cy="1706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216640" cy="170688"/>
            </a:xfrm>
            <a:custGeom>
              <a:avLst/>
              <a:gdLst/>
              <a:ahLst/>
              <a:cxnLst/>
              <a:rect r="r" b="b" t="t" l="l"/>
              <a:pathLst>
                <a:path h="1706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418320" y="5833872"/>
            <a:ext cx="128016" cy="3657600"/>
            <a:chOff x="0" y="0"/>
            <a:chExt cx="170688" cy="4876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0688" cy="4876800"/>
            </a:xfrm>
            <a:custGeom>
              <a:avLst/>
              <a:gdLst/>
              <a:ahLst/>
              <a:cxnLst/>
              <a:rect r="r" b="b" t="t" l="l"/>
              <a:pathLst>
                <a:path h="48768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784080" y="6053328"/>
            <a:ext cx="7900416" cy="548640"/>
            <a:chOff x="0" y="0"/>
            <a:chExt cx="10533888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533888" cy="731520"/>
            </a:xfrm>
            <a:custGeom>
              <a:avLst/>
              <a:gdLst/>
              <a:ahLst/>
              <a:cxnLst/>
              <a:rect r="r" b="b" t="t" l="l"/>
              <a:pathLst>
                <a:path h="73152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584" r="0" b="-23058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1053388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#4  Rural Friction Trap — Act Before Demand Arrives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780270" y="6689598"/>
            <a:ext cx="7780020" cy="446532"/>
            <a:chOff x="0" y="0"/>
            <a:chExt cx="10373360" cy="59537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5080" y="5080"/>
              <a:ext cx="10363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373360" cy="595376"/>
            </a:xfrm>
            <a:custGeom>
              <a:avLst/>
              <a:gdLst/>
              <a:ahLst/>
              <a:cxnLst/>
              <a:rect r="r" b="b" t="t" l="l"/>
              <a:pathLst>
                <a:path h="595376" w="10373360">
                  <a:moveTo>
                    <a:pt x="5080" y="0"/>
                  </a:moveTo>
                  <a:lnTo>
                    <a:pt x="10368280" y="0"/>
                  </a:lnTo>
                  <a:cubicBezTo>
                    <a:pt x="10371074" y="0"/>
                    <a:pt x="10373360" y="2286"/>
                    <a:pt x="10373360" y="5080"/>
                  </a:cubicBezTo>
                  <a:lnTo>
                    <a:pt x="10373360" y="590296"/>
                  </a:lnTo>
                  <a:cubicBezTo>
                    <a:pt x="10373360" y="593090"/>
                    <a:pt x="10371074" y="595376"/>
                    <a:pt x="10368280" y="595376"/>
                  </a:cubicBezTo>
                  <a:lnTo>
                    <a:pt x="5080" y="595376"/>
                  </a:lnTo>
                  <a:cubicBezTo>
                    <a:pt x="2286" y="595376"/>
                    <a:pt x="0" y="593090"/>
                    <a:pt x="0" y="590296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590296"/>
                  </a:lnTo>
                  <a:lnTo>
                    <a:pt x="5080" y="590296"/>
                  </a:lnTo>
                  <a:lnTo>
                    <a:pt x="5080" y="585216"/>
                  </a:lnTo>
                  <a:lnTo>
                    <a:pt x="10368280" y="585216"/>
                  </a:lnTo>
                  <a:lnTo>
                    <a:pt x="10368280" y="590296"/>
                  </a:lnTo>
                  <a:lnTo>
                    <a:pt x="10363200" y="590296"/>
                  </a:lnTo>
                  <a:lnTo>
                    <a:pt x="10363200" y="5080"/>
                  </a:lnTo>
                  <a:lnTo>
                    <a:pt x="10368280" y="5080"/>
                  </a:lnTo>
                  <a:lnTo>
                    <a:pt x="10368280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75520" y="6711696"/>
            <a:ext cx="7644384" cy="402336"/>
            <a:chOff x="0" y="0"/>
            <a:chExt cx="10192512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192512" cy="536448"/>
            </a:xfrm>
            <a:custGeom>
              <a:avLst/>
              <a:gdLst/>
              <a:ahLst/>
              <a:cxnLst/>
              <a:rect r="r" b="b" t="t" l="l"/>
              <a:pathLst>
                <a:path h="536448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1925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Asotin, Mason, Jefferson: Utility Complexity Score 3.0 despite fewest EVs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784080" y="7260336"/>
            <a:ext cx="7900416" cy="2084832"/>
            <a:chOff x="0" y="0"/>
            <a:chExt cx="10533888" cy="277977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533888" cy="2779776"/>
            </a:xfrm>
            <a:custGeom>
              <a:avLst/>
              <a:gdLst/>
              <a:ahLst/>
              <a:cxnLst/>
              <a:rect r="r" b="b" t="t" l="l"/>
              <a:pathLst>
                <a:path h="277977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2779776"/>
                  </a:lnTo>
                  <a:lnTo>
                    <a:pt x="0" y="2779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38" r="0" b="-2383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14300"/>
              <a:ext cx="10533888" cy="2894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8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ANOVA confirms complexity varies significantly across adoption eras (F=14.44, p&lt;0.0001). Rural grid coordination MOUs must start now — reactive investment will be 30–40% costlier.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Actionable Recommendations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3727" y="1968751"/>
            <a:ext cx="17294857" cy="1512313"/>
            <a:chOff x="0" y="0"/>
            <a:chExt cx="23059809" cy="20164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8509"/>
              <a:ext cx="230428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23042881">
                  <a:moveTo>
                    <a:pt x="0" y="0"/>
                  </a:moveTo>
                  <a:lnTo>
                    <a:pt x="23042881" y="0"/>
                  </a:lnTo>
                  <a:lnTo>
                    <a:pt x="230428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59898" cy="2016506"/>
            </a:xfrm>
            <a:custGeom>
              <a:avLst/>
              <a:gdLst/>
              <a:ahLst/>
              <a:cxnLst/>
              <a:rect r="r" b="b" t="t" l="l"/>
              <a:pathLst>
                <a:path h="2016506" w="23059898">
                  <a:moveTo>
                    <a:pt x="8509" y="0"/>
                  </a:moveTo>
                  <a:lnTo>
                    <a:pt x="23051390" y="0"/>
                  </a:lnTo>
                  <a:cubicBezTo>
                    <a:pt x="23056089" y="0"/>
                    <a:pt x="23059898" y="3810"/>
                    <a:pt x="23059898" y="8509"/>
                  </a:cubicBezTo>
                  <a:lnTo>
                    <a:pt x="23059898" y="2007997"/>
                  </a:lnTo>
                  <a:cubicBezTo>
                    <a:pt x="23059898" y="2012696"/>
                    <a:pt x="23056089" y="2016506"/>
                    <a:pt x="23051390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3051390" y="1999488"/>
                  </a:lnTo>
                  <a:lnTo>
                    <a:pt x="23051390" y="2007997"/>
                  </a:lnTo>
                  <a:lnTo>
                    <a:pt x="23042880" y="2007997"/>
                  </a:lnTo>
                  <a:lnTo>
                    <a:pt x="23042880" y="8509"/>
                  </a:lnTo>
                  <a:lnTo>
                    <a:pt x="23051390" y="8509"/>
                  </a:lnTo>
                  <a:lnTo>
                    <a:pt x="23051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1975104"/>
            <a:ext cx="182880" cy="1499616"/>
            <a:chOff x="0" y="0"/>
            <a:chExt cx="243840" cy="19994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05840" y="2395728"/>
            <a:ext cx="950976" cy="475488"/>
            <a:chOff x="0" y="0"/>
            <a:chExt cx="1267968" cy="6339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5840" y="2395728"/>
            <a:ext cx="950976" cy="475488"/>
            <a:chOff x="0" y="0"/>
            <a:chExt cx="1267968" cy="6339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57984" y="2157984"/>
            <a:ext cx="9326880" cy="512064"/>
            <a:chOff x="0" y="0"/>
            <a:chExt cx="12435840" cy="682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35840" cy="682752"/>
            </a:xfrm>
            <a:custGeom>
              <a:avLst/>
              <a:gdLst/>
              <a:ahLst/>
              <a:cxnLst/>
              <a:rect r="r" b="b" t="t" l="l"/>
              <a:pathLst>
                <a:path h="68275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6" r="0" b="-30490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2435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 Charging in Growth Counties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57984" y="2706624"/>
            <a:ext cx="9326880" cy="694944"/>
            <a:chOff x="0" y="0"/>
            <a:chExt cx="1243584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435840" cy="926592"/>
            </a:xfrm>
            <a:custGeom>
              <a:avLst/>
              <a:gdLst/>
              <a:ahLst/>
              <a:cxnLst/>
              <a:rect r="r" b="b" t="t" l="l"/>
              <a:pathLst>
                <a:path h="92659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509" r="0" b="-21150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4358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Level 2 + DC fast charging in Snohomish, Pierce, Clark. Target density: 1 charger per 50 registered EVs.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490191" y="2151631"/>
            <a:ext cx="4218937" cy="1146553"/>
            <a:chOff x="0" y="0"/>
            <a:chExt cx="5625249" cy="15287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8509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25338" cy="1528826"/>
            </a:xfrm>
            <a:custGeom>
              <a:avLst/>
              <a:gdLst/>
              <a:ahLst/>
              <a:cxnLst/>
              <a:rect r="r" b="b" t="t" l="l"/>
              <a:pathLst>
                <a:path h="1528826" w="5625338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1520317"/>
                  </a:lnTo>
                  <a:cubicBezTo>
                    <a:pt x="5625338" y="1525016"/>
                    <a:pt x="5621528" y="1528826"/>
                    <a:pt x="5616829" y="1528826"/>
                  </a:cubicBezTo>
                  <a:lnTo>
                    <a:pt x="8509" y="1528826"/>
                  </a:lnTo>
                  <a:cubicBezTo>
                    <a:pt x="3810" y="1528826"/>
                    <a:pt x="0" y="1525016"/>
                    <a:pt x="0" y="15203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20317"/>
                  </a:lnTo>
                  <a:lnTo>
                    <a:pt x="8509" y="1520317"/>
                  </a:lnTo>
                  <a:lnTo>
                    <a:pt x="8509" y="1511808"/>
                  </a:lnTo>
                  <a:lnTo>
                    <a:pt x="5616829" y="1511808"/>
                  </a:lnTo>
                  <a:lnTo>
                    <a:pt x="5616829" y="1520317"/>
                  </a:lnTo>
                  <a:lnTo>
                    <a:pt x="5608320" y="152031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496544" y="2157984"/>
            <a:ext cx="4206240" cy="1133856"/>
            <a:chOff x="0" y="0"/>
            <a:chExt cx="5608320" cy="15118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83" r="0" b="-2228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60832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+15–20%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registrations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24 months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3727" y="3614671"/>
            <a:ext cx="17294857" cy="1512313"/>
            <a:chOff x="0" y="0"/>
            <a:chExt cx="23059809" cy="201641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230428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23042881">
                  <a:moveTo>
                    <a:pt x="0" y="0"/>
                  </a:moveTo>
                  <a:lnTo>
                    <a:pt x="23042881" y="0"/>
                  </a:lnTo>
                  <a:lnTo>
                    <a:pt x="230428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059898" cy="2016506"/>
            </a:xfrm>
            <a:custGeom>
              <a:avLst/>
              <a:gdLst/>
              <a:ahLst/>
              <a:cxnLst/>
              <a:rect r="r" b="b" t="t" l="l"/>
              <a:pathLst>
                <a:path h="2016506" w="23059898">
                  <a:moveTo>
                    <a:pt x="8509" y="0"/>
                  </a:moveTo>
                  <a:lnTo>
                    <a:pt x="23051390" y="0"/>
                  </a:lnTo>
                  <a:cubicBezTo>
                    <a:pt x="23056089" y="0"/>
                    <a:pt x="23059898" y="3810"/>
                    <a:pt x="23059898" y="8509"/>
                  </a:cubicBezTo>
                  <a:lnTo>
                    <a:pt x="23059898" y="2007997"/>
                  </a:lnTo>
                  <a:cubicBezTo>
                    <a:pt x="23059898" y="2012696"/>
                    <a:pt x="23056089" y="2016506"/>
                    <a:pt x="23051390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3051390" y="1999488"/>
                  </a:lnTo>
                  <a:lnTo>
                    <a:pt x="23051390" y="2007997"/>
                  </a:lnTo>
                  <a:lnTo>
                    <a:pt x="23042880" y="2007997"/>
                  </a:lnTo>
                  <a:lnTo>
                    <a:pt x="23042880" y="8509"/>
                  </a:lnTo>
                  <a:lnTo>
                    <a:pt x="23051390" y="8509"/>
                  </a:lnTo>
                  <a:lnTo>
                    <a:pt x="23051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40080" y="3621024"/>
            <a:ext cx="182880" cy="1499616"/>
            <a:chOff x="0" y="0"/>
            <a:chExt cx="243840" cy="19994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05840" y="4041648"/>
            <a:ext cx="950976" cy="475488"/>
            <a:chOff x="0" y="0"/>
            <a:chExt cx="1267968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05840" y="4041648"/>
            <a:ext cx="950976" cy="475488"/>
            <a:chOff x="0" y="0"/>
            <a:chExt cx="1267968" cy="6339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57984" y="3803904"/>
            <a:ext cx="9326880" cy="512064"/>
            <a:chOff x="0" y="0"/>
            <a:chExt cx="1243584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435840" cy="682752"/>
            </a:xfrm>
            <a:custGeom>
              <a:avLst/>
              <a:gdLst/>
              <a:ahLst/>
              <a:cxnLst/>
              <a:rect r="r" b="b" t="t" l="l"/>
              <a:pathLst>
                <a:path h="68275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6" r="0" b="-30490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2435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Extend CAFV Incentives to PHEVs ≥ 20 mi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57984" y="4352544"/>
            <a:ext cx="9326880" cy="694944"/>
            <a:chOff x="0" y="0"/>
            <a:chExt cx="1243584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435840" cy="926592"/>
            </a:xfrm>
            <a:custGeom>
              <a:avLst/>
              <a:gdLst/>
              <a:ahLst/>
              <a:cxnLst/>
              <a:rect r="r" b="b" t="t" l="l"/>
              <a:pathLst>
                <a:path h="92659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509" r="0" b="-21150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24358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'Transition Fuel' eligibility tier captures ~18,000 currently ineligible registrations and improves incentive reach.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490191" y="3797551"/>
            <a:ext cx="4218937" cy="1146553"/>
            <a:chOff x="0" y="0"/>
            <a:chExt cx="5625249" cy="152873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8509" y="8509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625338" cy="1528826"/>
            </a:xfrm>
            <a:custGeom>
              <a:avLst/>
              <a:gdLst/>
              <a:ahLst/>
              <a:cxnLst/>
              <a:rect r="r" b="b" t="t" l="l"/>
              <a:pathLst>
                <a:path h="1528826" w="5625338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1520317"/>
                  </a:lnTo>
                  <a:cubicBezTo>
                    <a:pt x="5625338" y="1525016"/>
                    <a:pt x="5621528" y="1528826"/>
                    <a:pt x="5616829" y="1528826"/>
                  </a:cubicBezTo>
                  <a:lnTo>
                    <a:pt x="8509" y="1528826"/>
                  </a:lnTo>
                  <a:cubicBezTo>
                    <a:pt x="3810" y="1528826"/>
                    <a:pt x="0" y="1525016"/>
                    <a:pt x="0" y="15203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20317"/>
                  </a:lnTo>
                  <a:lnTo>
                    <a:pt x="8509" y="1520317"/>
                  </a:lnTo>
                  <a:lnTo>
                    <a:pt x="8509" y="1511808"/>
                  </a:lnTo>
                  <a:lnTo>
                    <a:pt x="5616829" y="1511808"/>
                  </a:lnTo>
                  <a:lnTo>
                    <a:pt x="5616829" y="1520317"/>
                  </a:lnTo>
                  <a:lnTo>
                    <a:pt x="5608320" y="152031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496544" y="3803904"/>
            <a:ext cx="4206240" cy="1133856"/>
            <a:chOff x="0" y="0"/>
            <a:chExt cx="5608320" cy="15118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83" r="0" b="-2228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60832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Eligible fleet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rises to 95%+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33727" y="5260591"/>
            <a:ext cx="17294857" cy="1512313"/>
            <a:chOff x="0" y="0"/>
            <a:chExt cx="23059809" cy="201641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509" y="8509"/>
              <a:ext cx="230428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23042881">
                  <a:moveTo>
                    <a:pt x="0" y="0"/>
                  </a:moveTo>
                  <a:lnTo>
                    <a:pt x="23042881" y="0"/>
                  </a:lnTo>
                  <a:lnTo>
                    <a:pt x="230428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059898" cy="2016506"/>
            </a:xfrm>
            <a:custGeom>
              <a:avLst/>
              <a:gdLst/>
              <a:ahLst/>
              <a:cxnLst/>
              <a:rect r="r" b="b" t="t" l="l"/>
              <a:pathLst>
                <a:path h="2016506" w="23059898">
                  <a:moveTo>
                    <a:pt x="8509" y="0"/>
                  </a:moveTo>
                  <a:lnTo>
                    <a:pt x="23051390" y="0"/>
                  </a:lnTo>
                  <a:cubicBezTo>
                    <a:pt x="23056089" y="0"/>
                    <a:pt x="23059898" y="3810"/>
                    <a:pt x="23059898" y="8509"/>
                  </a:cubicBezTo>
                  <a:lnTo>
                    <a:pt x="23059898" y="2007997"/>
                  </a:lnTo>
                  <a:cubicBezTo>
                    <a:pt x="23059898" y="2012696"/>
                    <a:pt x="23056089" y="2016506"/>
                    <a:pt x="23051390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3051390" y="1999488"/>
                  </a:lnTo>
                  <a:lnTo>
                    <a:pt x="23051390" y="2007997"/>
                  </a:lnTo>
                  <a:lnTo>
                    <a:pt x="23042880" y="2007997"/>
                  </a:lnTo>
                  <a:lnTo>
                    <a:pt x="23042880" y="8509"/>
                  </a:lnTo>
                  <a:lnTo>
                    <a:pt x="23051390" y="8509"/>
                  </a:lnTo>
                  <a:lnTo>
                    <a:pt x="23051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40080" y="5266944"/>
            <a:ext cx="182880" cy="1499616"/>
            <a:chOff x="0" y="0"/>
            <a:chExt cx="243840" cy="19994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05840" y="5687568"/>
            <a:ext cx="950976" cy="475488"/>
            <a:chOff x="0" y="0"/>
            <a:chExt cx="1267968" cy="6339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5840" y="5687568"/>
            <a:ext cx="950976" cy="475488"/>
            <a:chOff x="0" y="0"/>
            <a:chExt cx="1267968" cy="633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157984" y="5449824"/>
            <a:ext cx="9326880" cy="512064"/>
            <a:chOff x="0" y="0"/>
            <a:chExt cx="1243584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435840" cy="682752"/>
            </a:xfrm>
            <a:custGeom>
              <a:avLst/>
              <a:gdLst/>
              <a:ahLst/>
              <a:cxnLst/>
              <a:rect r="r" b="b" t="t" l="l"/>
              <a:pathLst>
                <a:path h="68275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6" r="0" b="-30490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2435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Pre-emptive Rural Grid Coordination MOUs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157984" y="5998464"/>
            <a:ext cx="9326880" cy="694944"/>
            <a:chOff x="0" y="0"/>
            <a:chExt cx="1243584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435840" cy="926592"/>
            </a:xfrm>
            <a:custGeom>
              <a:avLst/>
              <a:gdLst/>
              <a:ahLst/>
              <a:cxnLst/>
              <a:rect r="r" b="b" t="t" l="l"/>
              <a:pathLst>
                <a:path h="92659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509" r="0" b="-21150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24358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Mandate multi-agency agreements in counties with Utility Complexity Score ≥ 2.5 before EV density exceeds 500 vehicles/county.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490191" y="5443471"/>
            <a:ext cx="4218937" cy="1146553"/>
            <a:chOff x="0" y="0"/>
            <a:chExt cx="5625249" cy="152873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8509" y="8509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625338" cy="1528826"/>
            </a:xfrm>
            <a:custGeom>
              <a:avLst/>
              <a:gdLst/>
              <a:ahLst/>
              <a:cxnLst/>
              <a:rect r="r" b="b" t="t" l="l"/>
              <a:pathLst>
                <a:path h="1528826" w="5625338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1520317"/>
                  </a:lnTo>
                  <a:cubicBezTo>
                    <a:pt x="5625338" y="1525016"/>
                    <a:pt x="5621528" y="1528826"/>
                    <a:pt x="5616829" y="1528826"/>
                  </a:cubicBezTo>
                  <a:lnTo>
                    <a:pt x="8509" y="1528826"/>
                  </a:lnTo>
                  <a:cubicBezTo>
                    <a:pt x="3810" y="1528826"/>
                    <a:pt x="0" y="1525016"/>
                    <a:pt x="0" y="15203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20317"/>
                  </a:lnTo>
                  <a:lnTo>
                    <a:pt x="8509" y="1520317"/>
                  </a:lnTo>
                  <a:lnTo>
                    <a:pt x="8509" y="1511808"/>
                  </a:lnTo>
                  <a:lnTo>
                    <a:pt x="5616829" y="1511808"/>
                  </a:lnTo>
                  <a:lnTo>
                    <a:pt x="5616829" y="1520317"/>
                  </a:lnTo>
                  <a:lnTo>
                    <a:pt x="5608320" y="152031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496544" y="5449824"/>
            <a:ext cx="4206240" cy="1133856"/>
            <a:chOff x="0" y="0"/>
            <a:chExt cx="5608320" cy="15118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83" r="0" b="-2228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60832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−30–40%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grid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coordination cost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33727" y="6906511"/>
            <a:ext cx="17294857" cy="1512313"/>
            <a:chOff x="0" y="0"/>
            <a:chExt cx="23059809" cy="201641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230428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23042881">
                  <a:moveTo>
                    <a:pt x="0" y="0"/>
                  </a:moveTo>
                  <a:lnTo>
                    <a:pt x="23042881" y="0"/>
                  </a:lnTo>
                  <a:lnTo>
                    <a:pt x="230428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3059898" cy="2016506"/>
            </a:xfrm>
            <a:custGeom>
              <a:avLst/>
              <a:gdLst/>
              <a:ahLst/>
              <a:cxnLst/>
              <a:rect r="r" b="b" t="t" l="l"/>
              <a:pathLst>
                <a:path h="2016506" w="23059898">
                  <a:moveTo>
                    <a:pt x="8509" y="0"/>
                  </a:moveTo>
                  <a:lnTo>
                    <a:pt x="23051390" y="0"/>
                  </a:lnTo>
                  <a:cubicBezTo>
                    <a:pt x="23056089" y="0"/>
                    <a:pt x="23059898" y="3810"/>
                    <a:pt x="23059898" y="8509"/>
                  </a:cubicBezTo>
                  <a:lnTo>
                    <a:pt x="23059898" y="2007997"/>
                  </a:lnTo>
                  <a:cubicBezTo>
                    <a:pt x="23059898" y="2012696"/>
                    <a:pt x="23056089" y="2016506"/>
                    <a:pt x="23051390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3051390" y="1999488"/>
                  </a:lnTo>
                  <a:lnTo>
                    <a:pt x="23051390" y="2007997"/>
                  </a:lnTo>
                  <a:lnTo>
                    <a:pt x="23042880" y="2007997"/>
                  </a:lnTo>
                  <a:lnTo>
                    <a:pt x="23042880" y="8509"/>
                  </a:lnTo>
                  <a:lnTo>
                    <a:pt x="23051390" y="8509"/>
                  </a:lnTo>
                  <a:lnTo>
                    <a:pt x="23051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40080" y="6912864"/>
            <a:ext cx="182880" cy="1499616"/>
            <a:chOff x="0" y="0"/>
            <a:chExt cx="243840" cy="19994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05840" y="7333488"/>
            <a:ext cx="950976" cy="475488"/>
            <a:chOff x="0" y="0"/>
            <a:chExt cx="1267968" cy="6339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05840" y="7333488"/>
            <a:ext cx="950976" cy="475488"/>
            <a:chOff x="0" y="0"/>
            <a:chExt cx="1267968" cy="63398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R4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2157984" y="7095744"/>
            <a:ext cx="9326880" cy="512064"/>
            <a:chOff x="0" y="0"/>
            <a:chExt cx="1243584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435840" cy="682752"/>
            </a:xfrm>
            <a:custGeom>
              <a:avLst/>
              <a:gdLst/>
              <a:ahLst/>
              <a:cxnLst/>
              <a:rect r="r" b="b" t="t" l="l"/>
              <a:pathLst>
                <a:path h="68275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6" r="0" b="-30490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12435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Mass-Market BEV Point-of-Sale Rebate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2157984" y="7644384"/>
            <a:ext cx="9326880" cy="694944"/>
            <a:chOff x="0" y="0"/>
            <a:chExt cx="12435840" cy="92659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2435840" cy="926592"/>
            </a:xfrm>
            <a:custGeom>
              <a:avLst/>
              <a:gdLst/>
              <a:ahLst/>
              <a:cxnLst/>
              <a:rect r="r" b="b" t="t" l="l"/>
              <a:pathLst>
                <a:path h="92659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509" r="0" b="-21150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124358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$3,000 state rebate for BEVs priced under $40,000 (LEAF, Bolt EV, Kia EV6 segment) to democratise adoption.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490191" y="7089391"/>
            <a:ext cx="4218937" cy="1146553"/>
            <a:chOff x="0" y="0"/>
            <a:chExt cx="5625249" cy="152873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8509" y="8509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625338" cy="1528826"/>
            </a:xfrm>
            <a:custGeom>
              <a:avLst/>
              <a:gdLst/>
              <a:ahLst/>
              <a:cxnLst/>
              <a:rect r="r" b="b" t="t" l="l"/>
              <a:pathLst>
                <a:path h="1528826" w="5625338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1520317"/>
                  </a:lnTo>
                  <a:cubicBezTo>
                    <a:pt x="5625338" y="1525016"/>
                    <a:pt x="5621528" y="1528826"/>
                    <a:pt x="5616829" y="1528826"/>
                  </a:cubicBezTo>
                  <a:lnTo>
                    <a:pt x="8509" y="1528826"/>
                  </a:lnTo>
                  <a:cubicBezTo>
                    <a:pt x="3810" y="1528826"/>
                    <a:pt x="0" y="1525016"/>
                    <a:pt x="0" y="15203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20317"/>
                  </a:lnTo>
                  <a:lnTo>
                    <a:pt x="8509" y="1520317"/>
                  </a:lnTo>
                  <a:lnTo>
                    <a:pt x="8509" y="1511808"/>
                  </a:lnTo>
                  <a:lnTo>
                    <a:pt x="5616829" y="1511808"/>
                  </a:lnTo>
                  <a:lnTo>
                    <a:pt x="5616829" y="1520317"/>
                  </a:lnTo>
                  <a:lnTo>
                    <a:pt x="5608320" y="152031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496544" y="7095744"/>
            <a:ext cx="4206240" cy="1133856"/>
            <a:chOff x="0" y="0"/>
            <a:chExt cx="5608320" cy="151180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83" r="0" b="-22283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560832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+12,000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registrations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Year 1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33727" y="8552431"/>
            <a:ext cx="17294857" cy="1512313"/>
            <a:chOff x="0" y="0"/>
            <a:chExt cx="23059809" cy="201641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8509" y="8509"/>
              <a:ext cx="230428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23042881">
                  <a:moveTo>
                    <a:pt x="0" y="0"/>
                  </a:moveTo>
                  <a:lnTo>
                    <a:pt x="23042881" y="0"/>
                  </a:lnTo>
                  <a:lnTo>
                    <a:pt x="2304288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3059898" cy="2016506"/>
            </a:xfrm>
            <a:custGeom>
              <a:avLst/>
              <a:gdLst/>
              <a:ahLst/>
              <a:cxnLst/>
              <a:rect r="r" b="b" t="t" l="l"/>
              <a:pathLst>
                <a:path h="2016506" w="23059898">
                  <a:moveTo>
                    <a:pt x="8509" y="0"/>
                  </a:moveTo>
                  <a:lnTo>
                    <a:pt x="23051390" y="0"/>
                  </a:lnTo>
                  <a:cubicBezTo>
                    <a:pt x="23056089" y="0"/>
                    <a:pt x="23059898" y="3810"/>
                    <a:pt x="23059898" y="8509"/>
                  </a:cubicBezTo>
                  <a:lnTo>
                    <a:pt x="23059898" y="2007997"/>
                  </a:lnTo>
                  <a:cubicBezTo>
                    <a:pt x="23059898" y="2012696"/>
                    <a:pt x="23056089" y="2016506"/>
                    <a:pt x="23051390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3051390" y="1999488"/>
                  </a:lnTo>
                  <a:lnTo>
                    <a:pt x="23051390" y="2007997"/>
                  </a:lnTo>
                  <a:lnTo>
                    <a:pt x="23042880" y="2007997"/>
                  </a:lnTo>
                  <a:lnTo>
                    <a:pt x="23042880" y="8509"/>
                  </a:lnTo>
                  <a:lnTo>
                    <a:pt x="23051390" y="8509"/>
                  </a:lnTo>
                  <a:lnTo>
                    <a:pt x="23051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640080" y="8558784"/>
            <a:ext cx="182880" cy="1499616"/>
            <a:chOff x="0" y="0"/>
            <a:chExt cx="243840" cy="199948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3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05840" y="8979408"/>
            <a:ext cx="950976" cy="475488"/>
            <a:chOff x="0" y="0"/>
            <a:chExt cx="1267968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005840" y="8979408"/>
            <a:ext cx="950976" cy="475488"/>
            <a:chOff x="0" y="0"/>
            <a:chExt cx="1267968" cy="6339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67968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126796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R5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2157984" y="8741664"/>
            <a:ext cx="9326880" cy="512064"/>
            <a:chOff x="0" y="0"/>
            <a:chExt cx="12435840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2435840" cy="682752"/>
            </a:xfrm>
            <a:custGeom>
              <a:avLst/>
              <a:gdLst/>
              <a:ahLst/>
              <a:cxnLst/>
              <a:rect r="r" b="b" t="t" l="l"/>
              <a:pathLst>
                <a:path h="68275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6" r="0" b="-30490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12435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Fleet Renewal Trade-in Program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2157984" y="9290304"/>
            <a:ext cx="9326880" cy="694944"/>
            <a:chOff x="0" y="0"/>
            <a:chExt cx="12435840" cy="9265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2435840" cy="926592"/>
            </a:xfrm>
            <a:custGeom>
              <a:avLst/>
              <a:gdLst/>
              <a:ahLst/>
              <a:cxnLst/>
              <a:rect r="r" b="b" t="t" l="l"/>
              <a:pathLst>
                <a:path h="92659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509" r="0" b="-211509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124358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Trade-in incentives for Model Year ≤ 2016 (Vehicle Age ≥ 10 years) to accelerate replacement with modern long-range BEVs.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3490191" y="8735311"/>
            <a:ext cx="4218937" cy="1146553"/>
            <a:chOff x="0" y="0"/>
            <a:chExt cx="5625249" cy="1528737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8509" y="8509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625338" cy="1528826"/>
            </a:xfrm>
            <a:custGeom>
              <a:avLst/>
              <a:gdLst/>
              <a:ahLst/>
              <a:cxnLst/>
              <a:rect r="r" b="b" t="t" l="l"/>
              <a:pathLst>
                <a:path h="1528826" w="5625338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1520317"/>
                  </a:lnTo>
                  <a:cubicBezTo>
                    <a:pt x="5625338" y="1525016"/>
                    <a:pt x="5621528" y="1528826"/>
                    <a:pt x="5616829" y="1528826"/>
                  </a:cubicBezTo>
                  <a:lnTo>
                    <a:pt x="8509" y="1528826"/>
                  </a:lnTo>
                  <a:cubicBezTo>
                    <a:pt x="3810" y="1528826"/>
                    <a:pt x="0" y="1525016"/>
                    <a:pt x="0" y="15203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20317"/>
                  </a:lnTo>
                  <a:lnTo>
                    <a:pt x="8509" y="1520317"/>
                  </a:lnTo>
                  <a:lnTo>
                    <a:pt x="8509" y="1511808"/>
                  </a:lnTo>
                  <a:lnTo>
                    <a:pt x="5616829" y="1511808"/>
                  </a:lnTo>
                  <a:lnTo>
                    <a:pt x="5616829" y="1520317"/>
                  </a:lnTo>
                  <a:lnTo>
                    <a:pt x="5608320" y="1520317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496544" y="8741664"/>
            <a:ext cx="4206240" cy="1133856"/>
            <a:chOff x="0" y="0"/>
            <a:chExt cx="5608320" cy="151180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608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83" r="0" b="-2228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560832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+~40 mi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fleet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 uplift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Assessment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640080" y="1920240"/>
          <a:ext cx="17221200" cy="3962400"/>
        </p:xfrm>
        <a:graphic>
          <a:graphicData uri="http://schemas.openxmlformats.org/drawingml/2006/table">
            <a:tbl>
              <a:tblPr/>
              <a:tblGrid>
                <a:gridCol w="6175913"/>
                <a:gridCol w="4005047"/>
                <a:gridCol w="2376897"/>
                <a:gridCol w="2015086"/>
                <a:gridCol w="2648256"/>
              </a:tblGrid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Recommendation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Expected Outcome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Timeline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Priority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Feasibility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R1 — Charging in Growth Counties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+15–20% registrations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12–24 months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R2 — CAFV PHEV Extension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Eligible fleet → 95%+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6–12 months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R3 — Rural Grid MOUs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−30–40% coordination cost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Immediate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R4 — Mass-Market BEV Rebate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+12,000 registrations Yr 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 months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R5 — Fleet Renewal Program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+40 mi avg fleet range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18–24 months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E895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633727" y="6266431"/>
            <a:ext cx="5535673" cy="3670297"/>
            <a:chOff x="0" y="0"/>
            <a:chExt cx="7380897" cy="4893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8509" y="8509"/>
              <a:ext cx="7363968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80986" cy="4893818"/>
            </a:xfrm>
            <a:custGeom>
              <a:avLst/>
              <a:gdLst/>
              <a:ahLst/>
              <a:cxnLst/>
              <a:rect r="r" b="b" t="t" l="l"/>
              <a:pathLst>
                <a:path h="4893818" w="7380986">
                  <a:moveTo>
                    <a:pt x="8509" y="0"/>
                  </a:moveTo>
                  <a:lnTo>
                    <a:pt x="7372477" y="0"/>
                  </a:lnTo>
                  <a:cubicBezTo>
                    <a:pt x="7377176" y="0"/>
                    <a:pt x="7380986" y="3810"/>
                    <a:pt x="7380986" y="8509"/>
                  </a:cubicBezTo>
                  <a:lnTo>
                    <a:pt x="7380986" y="4885309"/>
                  </a:lnTo>
                  <a:cubicBezTo>
                    <a:pt x="7380986" y="4890008"/>
                    <a:pt x="7377176" y="4893818"/>
                    <a:pt x="7372477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7372477" y="4876800"/>
                  </a:lnTo>
                  <a:lnTo>
                    <a:pt x="7372477" y="4885309"/>
                  </a:lnTo>
                  <a:lnTo>
                    <a:pt x="7363968" y="4885309"/>
                  </a:lnTo>
                  <a:lnTo>
                    <a:pt x="7363968" y="8509"/>
                  </a:lnTo>
                  <a:lnTo>
                    <a:pt x="7372477" y="8509"/>
                  </a:lnTo>
                  <a:lnTo>
                    <a:pt x="737247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6272784"/>
            <a:ext cx="5522976" cy="128016"/>
            <a:chOff x="0" y="0"/>
            <a:chExt cx="7363968" cy="1706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63968" cy="170688"/>
            </a:xfrm>
            <a:custGeom>
              <a:avLst/>
              <a:gdLst/>
              <a:ahLst/>
              <a:cxnLst/>
              <a:rect r="r" b="b" t="t" l="l"/>
              <a:pathLst>
                <a:path h="170688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6528816"/>
            <a:ext cx="4974336" cy="512064"/>
            <a:chOff x="0" y="0"/>
            <a:chExt cx="6632448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6324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Immediate Actions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7150608"/>
            <a:ext cx="4974336" cy="2596896"/>
            <a:chOff x="0" y="0"/>
            <a:chExt cx="6632448" cy="34625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32448" cy="3462528"/>
            </a:xfrm>
            <a:custGeom>
              <a:avLst/>
              <a:gdLst/>
              <a:ahLst/>
              <a:cxnLst/>
              <a:rect r="r" b="b" t="t" l="l"/>
              <a:pathLst>
                <a:path h="346252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82" t="0" r="-1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6632448" cy="3567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4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R1 + R2 + R4 can all be actioned within 12 months using existing WA State legislative frameworks. Combined projected impact: 30,000+ additional clean-vehicle registrations.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94447" y="6266431"/>
            <a:ext cx="5535673" cy="3670297"/>
            <a:chOff x="0" y="0"/>
            <a:chExt cx="7380897" cy="4893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7363968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80986" cy="4893818"/>
            </a:xfrm>
            <a:custGeom>
              <a:avLst/>
              <a:gdLst/>
              <a:ahLst/>
              <a:cxnLst/>
              <a:rect r="r" b="b" t="t" l="l"/>
              <a:pathLst>
                <a:path h="4893818" w="7380986">
                  <a:moveTo>
                    <a:pt x="8509" y="0"/>
                  </a:moveTo>
                  <a:lnTo>
                    <a:pt x="7372477" y="0"/>
                  </a:lnTo>
                  <a:cubicBezTo>
                    <a:pt x="7377176" y="0"/>
                    <a:pt x="7380986" y="3810"/>
                    <a:pt x="7380986" y="8509"/>
                  </a:cubicBezTo>
                  <a:lnTo>
                    <a:pt x="7380986" y="4885309"/>
                  </a:lnTo>
                  <a:cubicBezTo>
                    <a:pt x="7380986" y="4890008"/>
                    <a:pt x="7377176" y="4893818"/>
                    <a:pt x="7372477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7372477" y="4876800"/>
                  </a:lnTo>
                  <a:lnTo>
                    <a:pt x="7372477" y="4885309"/>
                  </a:lnTo>
                  <a:lnTo>
                    <a:pt x="7363968" y="4885309"/>
                  </a:lnTo>
                  <a:lnTo>
                    <a:pt x="7363968" y="8509"/>
                  </a:lnTo>
                  <a:lnTo>
                    <a:pt x="7372477" y="8509"/>
                  </a:lnTo>
                  <a:lnTo>
                    <a:pt x="737247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00800" y="6272784"/>
            <a:ext cx="5522976" cy="128016"/>
            <a:chOff x="0" y="0"/>
            <a:chExt cx="7363968" cy="1706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63968" cy="170688"/>
            </a:xfrm>
            <a:custGeom>
              <a:avLst/>
              <a:gdLst/>
              <a:ahLst/>
              <a:cxnLst/>
              <a:rect r="r" b="b" t="t" l="l"/>
              <a:pathLst>
                <a:path h="170688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75120" y="6528816"/>
            <a:ext cx="4974336" cy="512064"/>
            <a:chOff x="0" y="0"/>
            <a:chExt cx="6632448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6324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Long-Term Resilience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75120" y="7150608"/>
            <a:ext cx="4974336" cy="2596896"/>
            <a:chOff x="0" y="0"/>
            <a:chExt cx="6632448" cy="34625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32448" cy="3462528"/>
            </a:xfrm>
            <a:custGeom>
              <a:avLst/>
              <a:gdLst/>
              <a:ahLst/>
              <a:cxnLst/>
              <a:rect r="r" b="b" t="t" l="l"/>
              <a:pathLst>
                <a:path h="346252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82" t="0" r="-1698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6632448" cy="3567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4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R3 (rural grid MOUs) must begin now. EV density will arrive before infrastructure is ready without proactive inter-agency coordination agreements.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155167" y="6266431"/>
            <a:ext cx="5535673" cy="3670297"/>
            <a:chOff x="0" y="0"/>
            <a:chExt cx="7380897" cy="48937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509" y="8509"/>
              <a:ext cx="7363968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80986" cy="4893818"/>
            </a:xfrm>
            <a:custGeom>
              <a:avLst/>
              <a:gdLst/>
              <a:ahLst/>
              <a:cxnLst/>
              <a:rect r="r" b="b" t="t" l="l"/>
              <a:pathLst>
                <a:path h="4893818" w="7380986">
                  <a:moveTo>
                    <a:pt x="8509" y="0"/>
                  </a:moveTo>
                  <a:lnTo>
                    <a:pt x="7372477" y="0"/>
                  </a:lnTo>
                  <a:cubicBezTo>
                    <a:pt x="7377176" y="0"/>
                    <a:pt x="7380986" y="3810"/>
                    <a:pt x="7380986" y="8509"/>
                  </a:cubicBezTo>
                  <a:lnTo>
                    <a:pt x="7380986" y="4885309"/>
                  </a:lnTo>
                  <a:cubicBezTo>
                    <a:pt x="7380986" y="4890008"/>
                    <a:pt x="7377176" y="4893818"/>
                    <a:pt x="7372477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7372477" y="4876800"/>
                  </a:lnTo>
                  <a:lnTo>
                    <a:pt x="7372477" y="4885309"/>
                  </a:lnTo>
                  <a:lnTo>
                    <a:pt x="7363968" y="4885309"/>
                  </a:lnTo>
                  <a:lnTo>
                    <a:pt x="7363968" y="8509"/>
                  </a:lnTo>
                  <a:lnTo>
                    <a:pt x="7372477" y="8509"/>
                  </a:lnTo>
                  <a:lnTo>
                    <a:pt x="737247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161520" y="6272784"/>
            <a:ext cx="5522976" cy="128016"/>
            <a:chOff x="0" y="0"/>
            <a:chExt cx="7363968" cy="1706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63968" cy="170688"/>
            </a:xfrm>
            <a:custGeom>
              <a:avLst/>
              <a:gdLst/>
              <a:ahLst/>
              <a:cxnLst/>
              <a:rect r="r" b="b" t="t" l="l"/>
              <a:pathLst>
                <a:path h="170688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435840" y="6528816"/>
            <a:ext cx="4974336" cy="512064"/>
            <a:chOff x="0" y="0"/>
            <a:chExt cx="6632448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32448" cy="682752"/>
            </a:xfrm>
            <a:custGeom>
              <a:avLst/>
              <a:gdLst/>
              <a:ahLst/>
              <a:cxnLst/>
              <a:rect r="r" b="b" t="t" l="l"/>
              <a:pathLst>
                <a:path h="68275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6324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Fleet Renewal Cycle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435840" y="7150608"/>
            <a:ext cx="4974336" cy="2596896"/>
            <a:chOff x="0" y="0"/>
            <a:chExt cx="6632448" cy="34625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32448" cy="3462528"/>
            </a:xfrm>
            <a:custGeom>
              <a:avLst/>
              <a:gdLst/>
              <a:ahLst/>
              <a:cxnLst/>
              <a:rect r="r" b="b" t="t" l="l"/>
              <a:pathLst>
                <a:path h="346252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3462528"/>
                  </a:lnTo>
                  <a:lnTo>
                    <a:pt x="0" y="3462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82" t="0" r="-1698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04775"/>
              <a:ext cx="6632448" cy="3567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4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50,163 Growth-wave vehicles (2016–2020) are entering peak replacement age 2026–2030. Demand surge is structural. Automakers and utilities should prepare fleet renewal programs.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4264640" cy="950976"/>
            <a:chOff x="0" y="0"/>
            <a:chExt cx="190195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0195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Constraints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361920" y="548640"/>
            <a:ext cx="2651760" cy="585216"/>
            <a:chOff x="0" y="0"/>
            <a:chExt cx="353568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780288"/>
            </a:xfrm>
            <a:custGeom>
              <a:avLst/>
              <a:gdLst/>
              <a:ahLst/>
              <a:cxnLst/>
              <a:rect r="r" b="b" t="t" l="l"/>
              <a:pathLst>
                <a:path h="78028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91" r="0" b="-38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56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/ 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0555" y="1581531"/>
            <a:ext cx="17392650" cy="19050"/>
            <a:chOff x="0" y="0"/>
            <a:chExt cx="231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0"/>
              <a:ext cx="23164800" cy="25400"/>
            </a:xfrm>
            <a:custGeom>
              <a:avLst/>
              <a:gdLst/>
              <a:ahLst/>
              <a:cxnLst/>
              <a:rect r="r" b="b" t="t" l="l"/>
              <a:pathLst>
                <a:path h="25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1865376"/>
            <a:ext cx="8449056" cy="475488"/>
            <a:chOff x="0" y="0"/>
            <a:chExt cx="11265408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65408" cy="633984"/>
            </a:xfrm>
            <a:custGeom>
              <a:avLst/>
              <a:gdLst/>
              <a:ahLst/>
              <a:cxnLst/>
              <a:rect r="r" b="b" t="t" l="l"/>
              <a:pathLst>
                <a:path h="633984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6234" r="0" b="-2962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26540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LIMITATIONS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3727" y="2444239"/>
            <a:ext cx="8461753" cy="1622041"/>
            <a:chOff x="0" y="0"/>
            <a:chExt cx="11282337" cy="21627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1126540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82426" cy="2162810"/>
            </a:xfrm>
            <a:custGeom>
              <a:avLst/>
              <a:gdLst/>
              <a:ahLst/>
              <a:cxnLst/>
              <a:rect r="r" b="b" t="t" l="l"/>
              <a:pathLst>
                <a:path h="2162810" w="11282426">
                  <a:moveTo>
                    <a:pt x="8509" y="0"/>
                  </a:moveTo>
                  <a:lnTo>
                    <a:pt x="11273917" y="0"/>
                  </a:lnTo>
                  <a:cubicBezTo>
                    <a:pt x="11278616" y="0"/>
                    <a:pt x="11282426" y="3810"/>
                    <a:pt x="11282426" y="8509"/>
                  </a:cubicBezTo>
                  <a:lnTo>
                    <a:pt x="11282426" y="2154301"/>
                  </a:lnTo>
                  <a:cubicBezTo>
                    <a:pt x="11282426" y="2159000"/>
                    <a:pt x="11278616" y="2162810"/>
                    <a:pt x="11273917" y="2162810"/>
                  </a:cubicBezTo>
                  <a:lnTo>
                    <a:pt x="8509" y="2162810"/>
                  </a:lnTo>
                  <a:cubicBezTo>
                    <a:pt x="3810" y="2162810"/>
                    <a:pt x="0" y="2159000"/>
                    <a:pt x="0" y="21543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154301"/>
                  </a:lnTo>
                  <a:lnTo>
                    <a:pt x="8509" y="2154301"/>
                  </a:lnTo>
                  <a:lnTo>
                    <a:pt x="8509" y="2145792"/>
                  </a:lnTo>
                  <a:lnTo>
                    <a:pt x="11273917" y="2145792"/>
                  </a:lnTo>
                  <a:lnTo>
                    <a:pt x="11273917" y="2154301"/>
                  </a:lnTo>
                  <a:lnTo>
                    <a:pt x="11265408" y="2154301"/>
                  </a:lnTo>
                  <a:lnTo>
                    <a:pt x="11265408" y="8509"/>
                  </a:lnTo>
                  <a:lnTo>
                    <a:pt x="11273917" y="8509"/>
                  </a:lnTo>
                  <a:lnTo>
                    <a:pt x="1127391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2450592"/>
            <a:ext cx="128016" cy="1609344"/>
            <a:chOff x="0" y="0"/>
            <a:chExt cx="170688" cy="2145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2633472"/>
            <a:ext cx="7863840" cy="438912"/>
            <a:chOff x="0" y="0"/>
            <a:chExt cx="1048512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Range Data (64% of Raw)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5840" y="3127248"/>
            <a:ext cx="7863840" cy="841248"/>
            <a:chOff x="0" y="0"/>
            <a:chExt cx="10485120" cy="11216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5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142" r="0" b="-13214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0485120" cy="1216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179,538 of 280,813 rows had Electric Range = 0 — DOL code for 'not researched'. Analysis uses 101,275 verified records only. PHEVs are disproportionately absent, skewing BEV/PHEV range comparisons.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3727" y="4273039"/>
            <a:ext cx="8461753" cy="1622041"/>
            <a:chOff x="0" y="0"/>
            <a:chExt cx="11282337" cy="216272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8509"/>
              <a:ext cx="1126540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82426" cy="2162810"/>
            </a:xfrm>
            <a:custGeom>
              <a:avLst/>
              <a:gdLst/>
              <a:ahLst/>
              <a:cxnLst/>
              <a:rect r="r" b="b" t="t" l="l"/>
              <a:pathLst>
                <a:path h="2162810" w="11282426">
                  <a:moveTo>
                    <a:pt x="8509" y="0"/>
                  </a:moveTo>
                  <a:lnTo>
                    <a:pt x="11273917" y="0"/>
                  </a:lnTo>
                  <a:cubicBezTo>
                    <a:pt x="11278616" y="0"/>
                    <a:pt x="11282426" y="3810"/>
                    <a:pt x="11282426" y="8509"/>
                  </a:cubicBezTo>
                  <a:lnTo>
                    <a:pt x="11282426" y="2154301"/>
                  </a:lnTo>
                  <a:cubicBezTo>
                    <a:pt x="11282426" y="2159000"/>
                    <a:pt x="11278616" y="2162810"/>
                    <a:pt x="11273917" y="2162810"/>
                  </a:cubicBezTo>
                  <a:lnTo>
                    <a:pt x="8509" y="2162810"/>
                  </a:lnTo>
                  <a:cubicBezTo>
                    <a:pt x="3810" y="2162810"/>
                    <a:pt x="0" y="2159000"/>
                    <a:pt x="0" y="21543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154301"/>
                  </a:lnTo>
                  <a:lnTo>
                    <a:pt x="8509" y="2154301"/>
                  </a:lnTo>
                  <a:lnTo>
                    <a:pt x="8509" y="2145792"/>
                  </a:lnTo>
                  <a:lnTo>
                    <a:pt x="11273917" y="2145792"/>
                  </a:lnTo>
                  <a:lnTo>
                    <a:pt x="11273917" y="2154301"/>
                  </a:lnTo>
                  <a:lnTo>
                    <a:pt x="11265408" y="2154301"/>
                  </a:lnTo>
                  <a:lnTo>
                    <a:pt x="11265408" y="8509"/>
                  </a:lnTo>
                  <a:lnTo>
                    <a:pt x="11273917" y="8509"/>
                  </a:lnTo>
                  <a:lnTo>
                    <a:pt x="1127391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40080" y="4279392"/>
            <a:ext cx="128016" cy="1609344"/>
            <a:chOff x="0" y="0"/>
            <a:chExt cx="170688" cy="21457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" y="4462272"/>
            <a:ext cx="7863840" cy="438912"/>
            <a:chOff x="0" y="0"/>
            <a:chExt cx="10485120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Registration ≠ Driving Location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5840" y="4956048"/>
            <a:ext cx="7863840" cy="841248"/>
            <a:chOff x="0" y="0"/>
            <a:chExt cx="10485120" cy="11216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85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142" r="0" b="-13214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10485120" cy="1216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King County-registered EV may commute daily to Snohomish. Charging demand is systematically undercounted outside urban cores in registry-based analysis.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33727" y="6101839"/>
            <a:ext cx="8461753" cy="1622041"/>
            <a:chOff x="0" y="0"/>
            <a:chExt cx="11282337" cy="216272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8509" y="8509"/>
              <a:ext cx="1126540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82426" cy="2162810"/>
            </a:xfrm>
            <a:custGeom>
              <a:avLst/>
              <a:gdLst/>
              <a:ahLst/>
              <a:cxnLst/>
              <a:rect r="r" b="b" t="t" l="l"/>
              <a:pathLst>
                <a:path h="2162810" w="11282426">
                  <a:moveTo>
                    <a:pt x="8509" y="0"/>
                  </a:moveTo>
                  <a:lnTo>
                    <a:pt x="11273917" y="0"/>
                  </a:lnTo>
                  <a:cubicBezTo>
                    <a:pt x="11278616" y="0"/>
                    <a:pt x="11282426" y="3810"/>
                    <a:pt x="11282426" y="8509"/>
                  </a:cubicBezTo>
                  <a:lnTo>
                    <a:pt x="11282426" y="2154301"/>
                  </a:lnTo>
                  <a:cubicBezTo>
                    <a:pt x="11282426" y="2159000"/>
                    <a:pt x="11278616" y="2162810"/>
                    <a:pt x="11273917" y="2162810"/>
                  </a:cubicBezTo>
                  <a:lnTo>
                    <a:pt x="8509" y="2162810"/>
                  </a:lnTo>
                  <a:cubicBezTo>
                    <a:pt x="3810" y="2162810"/>
                    <a:pt x="0" y="2159000"/>
                    <a:pt x="0" y="21543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154301"/>
                  </a:lnTo>
                  <a:lnTo>
                    <a:pt x="8509" y="2154301"/>
                  </a:lnTo>
                  <a:lnTo>
                    <a:pt x="8509" y="2145792"/>
                  </a:lnTo>
                  <a:lnTo>
                    <a:pt x="11273917" y="2145792"/>
                  </a:lnTo>
                  <a:lnTo>
                    <a:pt x="11273917" y="2154301"/>
                  </a:lnTo>
                  <a:lnTo>
                    <a:pt x="11265408" y="2154301"/>
                  </a:lnTo>
                  <a:lnTo>
                    <a:pt x="11265408" y="8509"/>
                  </a:lnTo>
                  <a:lnTo>
                    <a:pt x="11273917" y="8509"/>
                  </a:lnTo>
                  <a:lnTo>
                    <a:pt x="1127391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40080" y="6108192"/>
            <a:ext cx="128016" cy="1609344"/>
            <a:chOff x="0" y="0"/>
            <a:chExt cx="170688" cy="2145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5840" y="6291072"/>
            <a:ext cx="7863840" cy="438912"/>
            <a:chOff x="0" y="0"/>
            <a:chExt cx="1048512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Demographic / Income Data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40" y="6784848"/>
            <a:ext cx="7863840" cy="841248"/>
            <a:chOff x="0" y="0"/>
            <a:chExt cx="10485120" cy="11216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85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142" r="0" b="-13214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10485120" cy="1216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Registry contains no income, household, or socioeconomic fields. Equity analysis requires an external ACS Census join at census tract level.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33727" y="7930639"/>
            <a:ext cx="8461753" cy="1622041"/>
            <a:chOff x="0" y="0"/>
            <a:chExt cx="11282337" cy="21627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1126540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82426" cy="2162810"/>
            </a:xfrm>
            <a:custGeom>
              <a:avLst/>
              <a:gdLst/>
              <a:ahLst/>
              <a:cxnLst/>
              <a:rect r="r" b="b" t="t" l="l"/>
              <a:pathLst>
                <a:path h="2162810" w="11282426">
                  <a:moveTo>
                    <a:pt x="8509" y="0"/>
                  </a:moveTo>
                  <a:lnTo>
                    <a:pt x="11273917" y="0"/>
                  </a:lnTo>
                  <a:cubicBezTo>
                    <a:pt x="11278616" y="0"/>
                    <a:pt x="11282426" y="3810"/>
                    <a:pt x="11282426" y="8509"/>
                  </a:cubicBezTo>
                  <a:lnTo>
                    <a:pt x="11282426" y="2154301"/>
                  </a:lnTo>
                  <a:cubicBezTo>
                    <a:pt x="11282426" y="2159000"/>
                    <a:pt x="11278616" y="2162810"/>
                    <a:pt x="11273917" y="2162810"/>
                  </a:cubicBezTo>
                  <a:lnTo>
                    <a:pt x="8509" y="2162810"/>
                  </a:lnTo>
                  <a:cubicBezTo>
                    <a:pt x="3810" y="2162810"/>
                    <a:pt x="0" y="2159000"/>
                    <a:pt x="0" y="21543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154301"/>
                  </a:lnTo>
                  <a:lnTo>
                    <a:pt x="8509" y="2154301"/>
                  </a:lnTo>
                  <a:lnTo>
                    <a:pt x="8509" y="2145792"/>
                  </a:lnTo>
                  <a:lnTo>
                    <a:pt x="11273917" y="2145792"/>
                  </a:lnTo>
                  <a:lnTo>
                    <a:pt x="11273917" y="2154301"/>
                  </a:lnTo>
                  <a:lnTo>
                    <a:pt x="11265408" y="2154301"/>
                  </a:lnTo>
                  <a:lnTo>
                    <a:pt x="11265408" y="8509"/>
                  </a:lnTo>
                  <a:lnTo>
                    <a:pt x="11273917" y="8509"/>
                  </a:lnTo>
                  <a:lnTo>
                    <a:pt x="1127391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40080" y="7936992"/>
            <a:ext cx="128016" cy="1609344"/>
            <a:chOff x="0" y="0"/>
            <a:chExt cx="170688" cy="21457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05840" y="8119872"/>
            <a:ext cx="7863840" cy="438912"/>
            <a:chOff x="0" y="0"/>
            <a:chExt cx="1048512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Snapshot Dataset (No Panel)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5840" y="8613648"/>
            <a:ext cx="7863840" cy="841248"/>
            <a:chOff x="0" y="0"/>
            <a:chExt cx="10485120" cy="11216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85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142" r="0" b="-13214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0"/>
              <a:ext cx="10485120" cy="1216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dataset captures the current registry state only. Historical deregistrations, retirements, and fleet turnover patterns are not tracked.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54896" y="1865376"/>
            <a:ext cx="8449056" cy="475488"/>
            <a:chOff x="0" y="0"/>
            <a:chExt cx="11265408" cy="6339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65408" cy="633984"/>
            </a:xfrm>
            <a:custGeom>
              <a:avLst/>
              <a:gdLst/>
              <a:ahLst/>
              <a:cxnLst/>
              <a:rect r="r" b="b" t="t" l="l"/>
              <a:pathLst>
                <a:path h="633984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6234" r="0" b="-29623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126540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E895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 LIMITATIONS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448543" y="2444239"/>
            <a:ext cx="8461753" cy="2207257"/>
            <a:chOff x="0" y="0"/>
            <a:chExt cx="11282337" cy="294300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8509" y="8509"/>
              <a:ext cx="112654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282426" cy="2943098"/>
            </a:xfrm>
            <a:custGeom>
              <a:avLst/>
              <a:gdLst/>
              <a:ahLst/>
              <a:cxnLst/>
              <a:rect r="r" b="b" t="t" l="l"/>
              <a:pathLst>
                <a:path h="2943098" w="11282426">
                  <a:moveTo>
                    <a:pt x="8509" y="0"/>
                  </a:moveTo>
                  <a:lnTo>
                    <a:pt x="11273917" y="0"/>
                  </a:lnTo>
                  <a:cubicBezTo>
                    <a:pt x="11278616" y="0"/>
                    <a:pt x="11282426" y="3810"/>
                    <a:pt x="11282426" y="8509"/>
                  </a:cubicBezTo>
                  <a:lnTo>
                    <a:pt x="11282426" y="2934589"/>
                  </a:lnTo>
                  <a:cubicBezTo>
                    <a:pt x="11282426" y="2939288"/>
                    <a:pt x="11278616" y="2943098"/>
                    <a:pt x="11273917" y="2943098"/>
                  </a:cubicBezTo>
                  <a:lnTo>
                    <a:pt x="8509" y="2943098"/>
                  </a:lnTo>
                  <a:cubicBezTo>
                    <a:pt x="3810" y="2943098"/>
                    <a:pt x="0" y="2939288"/>
                    <a:pt x="0" y="29345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934589"/>
                  </a:lnTo>
                  <a:lnTo>
                    <a:pt x="8509" y="2934589"/>
                  </a:lnTo>
                  <a:lnTo>
                    <a:pt x="8509" y="2926080"/>
                  </a:lnTo>
                  <a:lnTo>
                    <a:pt x="11273917" y="2926080"/>
                  </a:lnTo>
                  <a:lnTo>
                    <a:pt x="11273917" y="2934589"/>
                  </a:lnTo>
                  <a:lnTo>
                    <a:pt x="11265408" y="2934589"/>
                  </a:lnTo>
                  <a:lnTo>
                    <a:pt x="11265408" y="8509"/>
                  </a:lnTo>
                  <a:lnTo>
                    <a:pt x="11273917" y="8509"/>
                  </a:lnTo>
                  <a:lnTo>
                    <a:pt x="1127391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454896" y="2450592"/>
            <a:ext cx="128016" cy="2194560"/>
            <a:chOff x="0" y="0"/>
            <a:chExt cx="170688" cy="2926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20656" y="2633472"/>
            <a:ext cx="7863840" cy="438912"/>
            <a:chOff x="0" y="0"/>
            <a:chExt cx="10485120" cy="5852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Brand-Level Market Segmentation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20656" y="3127248"/>
            <a:ext cx="7863840" cy="1389888"/>
            <a:chOff x="0" y="0"/>
            <a:chExt cx="10485120" cy="18531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48512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0"/>
              <a:ext cx="10485120" cy="1948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Market_Segment assigned at brand level, not by MSRP. Entry-level luxury (BMW 2-Series PHEV) and premium mass-market (Bolt EUV) may be misclassified.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448543" y="4876543"/>
            <a:ext cx="8461753" cy="2207257"/>
            <a:chOff x="0" y="0"/>
            <a:chExt cx="11282337" cy="294300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8509" y="8509"/>
              <a:ext cx="112654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282426" cy="2943098"/>
            </a:xfrm>
            <a:custGeom>
              <a:avLst/>
              <a:gdLst/>
              <a:ahLst/>
              <a:cxnLst/>
              <a:rect r="r" b="b" t="t" l="l"/>
              <a:pathLst>
                <a:path h="2943098" w="11282426">
                  <a:moveTo>
                    <a:pt x="8509" y="0"/>
                  </a:moveTo>
                  <a:lnTo>
                    <a:pt x="11273917" y="0"/>
                  </a:lnTo>
                  <a:cubicBezTo>
                    <a:pt x="11278616" y="0"/>
                    <a:pt x="11282426" y="3810"/>
                    <a:pt x="11282426" y="8509"/>
                  </a:cubicBezTo>
                  <a:lnTo>
                    <a:pt x="11282426" y="2934589"/>
                  </a:lnTo>
                  <a:cubicBezTo>
                    <a:pt x="11282426" y="2939288"/>
                    <a:pt x="11278616" y="2943098"/>
                    <a:pt x="11273917" y="2943098"/>
                  </a:cubicBezTo>
                  <a:lnTo>
                    <a:pt x="8509" y="2943098"/>
                  </a:lnTo>
                  <a:cubicBezTo>
                    <a:pt x="3810" y="2943098"/>
                    <a:pt x="0" y="2939288"/>
                    <a:pt x="0" y="29345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934589"/>
                  </a:lnTo>
                  <a:lnTo>
                    <a:pt x="8509" y="2934589"/>
                  </a:lnTo>
                  <a:lnTo>
                    <a:pt x="8509" y="2926080"/>
                  </a:lnTo>
                  <a:lnTo>
                    <a:pt x="11273917" y="2926080"/>
                  </a:lnTo>
                  <a:lnTo>
                    <a:pt x="11273917" y="2934589"/>
                  </a:lnTo>
                  <a:lnTo>
                    <a:pt x="11265408" y="2934589"/>
                  </a:lnTo>
                  <a:lnTo>
                    <a:pt x="11265408" y="8509"/>
                  </a:lnTo>
                  <a:lnTo>
                    <a:pt x="11273917" y="8509"/>
                  </a:lnTo>
                  <a:lnTo>
                    <a:pt x="1127391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454896" y="4882896"/>
            <a:ext cx="128016" cy="2194560"/>
            <a:chOff x="0" y="0"/>
            <a:chExt cx="170688" cy="2926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820656" y="5065776"/>
            <a:ext cx="7863840" cy="438912"/>
            <a:chOff x="0" y="0"/>
            <a:chExt cx="10485120" cy="5852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Correlation ≠ Causation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820656" y="5559552"/>
            <a:ext cx="7863840" cy="1389888"/>
            <a:chOff x="0" y="0"/>
            <a:chExt cx="10485120" cy="185318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48512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0"/>
              <a:ext cx="10485120" cy="1948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Pearson r = −0.268 (Model Year vs Range) confirms association but does not isolate the causal driver — technology improvements, market mix shifts, and DOL reporting changes all contribute.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448543" y="7308847"/>
            <a:ext cx="8461753" cy="2207257"/>
            <a:chOff x="0" y="0"/>
            <a:chExt cx="11282337" cy="294300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8509"/>
              <a:ext cx="1126540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82426" cy="2943098"/>
            </a:xfrm>
            <a:custGeom>
              <a:avLst/>
              <a:gdLst/>
              <a:ahLst/>
              <a:cxnLst/>
              <a:rect r="r" b="b" t="t" l="l"/>
              <a:pathLst>
                <a:path h="2943098" w="11282426">
                  <a:moveTo>
                    <a:pt x="8509" y="0"/>
                  </a:moveTo>
                  <a:lnTo>
                    <a:pt x="11273917" y="0"/>
                  </a:lnTo>
                  <a:cubicBezTo>
                    <a:pt x="11278616" y="0"/>
                    <a:pt x="11282426" y="3810"/>
                    <a:pt x="11282426" y="8509"/>
                  </a:cubicBezTo>
                  <a:lnTo>
                    <a:pt x="11282426" y="2934589"/>
                  </a:lnTo>
                  <a:cubicBezTo>
                    <a:pt x="11282426" y="2939288"/>
                    <a:pt x="11278616" y="2943098"/>
                    <a:pt x="11273917" y="2943098"/>
                  </a:cubicBezTo>
                  <a:lnTo>
                    <a:pt x="8509" y="2943098"/>
                  </a:lnTo>
                  <a:cubicBezTo>
                    <a:pt x="3810" y="2943098"/>
                    <a:pt x="0" y="2939288"/>
                    <a:pt x="0" y="29345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934589"/>
                  </a:lnTo>
                  <a:lnTo>
                    <a:pt x="8509" y="2934589"/>
                  </a:lnTo>
                  <a:lnTo>
                    <a:pt x="8509" y="2926080"/>
                  </a:lnTo>
                  <a:lnTo>
                    <a:pt x="11273917" y="2926080"/>
                  </a:lnTo>
                  <a:lnTo>
                    <a:pt x="11273917" y="2934589"/>
                  </a:lnTo>
                  <a:lnTo>
                    <a:pt x="11265408" y="2934589"/>
                  </a:lnTo>
                  <a:lnTo>
                    <a:pt x="11265408" y="8509"/>
                  </a:lnTo>
                  <a:lnTo>
                    <a:pt x="11273917" y="8509"/>
                  </a:lnTo>
                  <a:lnTo>
                    <a:pt x="1127391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454896" y="7315200"/>
            <a:ext cx="128016" cy="2194560"/>
            <a:chOff x="0" y="0"/>
            <a:chExt cx="170688" cy="29260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E8952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820656" y="7498080"/>
            <a:ext cx="7863840" cy="438912"/>
            <a:chOff x="0" y="0"/>
            <a:chExt cx="10485120" cy="5852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278 Out-of-WA Coordinates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820656" y="7991856"/>
            <a:ext cx="7863840" cy="1389888"/>
            <a:chOff x="0" y="0"/>
            <a:chExt cx="10485120" cy="18531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48512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0"/>
              <a:ext cx="10485120" cy="1948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Records with Latitude &lt; 45.5 or Longitude &gt; −116.9 are likely registry entry errors. Excluded from map visualisations but retained in tabular aggregations.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512064"/>
            <a:ext cx="17007840" cy="950976"/>
            <a:chOff x="0" y="0"/>
            <a:chExt cx="2267712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8482" r="0" b="-298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67712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Steps &amp; Closing Summary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0555" y="1581531"/>
            <a:ext cx="17026890" cy="19050"/>
            <a:chOff x="0" y="0"/>
            <a:chExt cx="2270252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0"/>
              <a:ext cx="22677120" cy="25400"/>
            </a:xfrm>
            <a:custGeom>
              <a:avLst/>
              <a:gdLst/>
              <a:ahLst/>
              <a:cxnLst/>
              <a:rect r="r" b="b" t="t" l="l"/>
              <a:pathLst>
                <a:path h="25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E407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1792224"/>
            <a:ext cx="17007840" cy="457200"/>
            <a:chOff x="0" y="0"/>
            <a:chExt cx="2267712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77120" cy="609600"/>
            </a:xfrm>
            <a:custGeom>
              <a:avLst/>
              <a:gdLst/>
              <a:ahLst/>
              <a:cxnLst/>
              <a:rect r="r" b="b" t="t" l="l"/>
              <a:pathLst>
                <a:path h="6096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4843" r="0" b="-6748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677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400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EXTENSIONS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3727" y="2334511"/>
            <a:ext cx="5535673" cy="2316985"/>
            <a:chOff x="0" y="0"/>
            <a:chExt cx="7380897" cy="30893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8509" y="8509"/>
              <a:ext cx="7363968" cy="3072384"/>
            </a:xfrm>
            <a:custGeom>
              <a:avLst/>
              <a:gdLst/>
              <a:ahLst/>
              <a:cxnLst/>
              <a:rect r="r" b="b" t="t" l="l"/>
              <a:pathLst>
                <a:path h="307238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3072384"/>
                  </a:lnTo>
                  <a:lnTo>
                    <a:pt x="0" y="3072384"/>
                  </a:lnTo>
                  <a:close/>
                </a:path>
              </a:pathLst>
            </a:custGeom>
            <a:solidFill>
              <a:srgbClr val="202F5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80986" cy="3089402"/>
            </a:xfrm>
            <a:custGeom>
              <a:avLst/>
              <a:gdLst/>
              <a:ahLst/>
              <a:cxnLst/>
              <a:rect r="r" b="b" t="t" l="l"/>
              <a:pathLst>
                <a:path h="3089402" w="7380986">
                  <a:moveTo>
                    <a:pt x="8509" y="0"/>
                  </a:moveTo>
                  <a:lnTo>
                    <a:pt x="7372477" y="0"/>
                  </a:lnTo>
                  <a:cubicBezTo>
                    <a:pt x="7377176" y="0"/>
                    <a:pt x="7380986" y="3810"/>
                    <a:pt x="7380986" y="8509"/>
                  </a:cubicBezTo>
                  <a:lnTo>
                    <a:pt x="7380986" y="3080893"/>
                  </a:lnTo>
                  <a:cubicBezTo>
                    <a:pt x="7380986" y="3085592"/>
                    <a:pt x="7377176" y="3089402"/>
                    <a:pt x="7372477" y="3089402"/>
                  </a:cubicBezTo>
                  <a:lnTo>
                    <a:pt x="8509" y="3089402"/>
                  </a:lnTo>
                  <a:cubicBezTo>
                    <a:pt x="3810" y="3089402"/>
                    <a:pt x="0" y="3085592"/>
                    <a:pt x="0" y="30808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080893"/>
                  </a:lnTo>
                  <a:lnTo>
                    <a:pt x="8509" y="3080893"/>
                  </a:lnTo>
                  <a:lnTo>
                    <a:pt x="8509" y="3072384"/>
                  </a:lnTo>
                  <a:lnTo>
                    <a:pt x="7372477" y="3072384"/>
                  </a:lnTo>
                  <a:lnTo>
                    <a:pt x="7372477" y="3080893"/>
                  </a:lnTo>
                  <a:lnTo>
                    <a:pt x="7363968" y="3080893"/>
                  </a:lnTo>
                  <a:lnTo>
                    <a:pt x="7363968" y="8509"/>
                  </a:lnTo>
                  <a:lnTo>
                    <a:pt x="7372477" y="8509"/>
                  </a:lnTo>
                  <a:lnTo>
                    <a:pt x="737247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407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40080" y="2340864"/>
            <a:ext cx="5522976" cy="109728"/>
            <a:chOff x="0" y="0"/>
            <a:chExt cx="7363968" cy="1463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63968" cy="146304"/>
            </a:xfrm>
            <a:custGeom>
              <a:avLst/>
              <a:gdLst/>
              <a:ahLst/>
              <a:cxnLst/>
              <a:rect r="r" b="b" t="t" l="l"/>
              <a:pathLst>
                <a:path h="14630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523744"/>
            <a:ext cx="4974336" cy="548640"/>
            <a:chOff x="0" y="0"/>
            <a:chExt cx="6632448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32448" cy="731520"/>
            </a:xfrm>
            <a:custGeom>
              <a:avLst/>
              <a:gdLst/>
              <a:ahLst/>
              <a:cxnLst/>
              <a:rect r="r" b="b" t="t" l="l"/>
              <a:pathLst>
                <a:path h="73152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6324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ACS Income Data Join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3145536"/>
            <a:ext cx="4974336" cy="1389888"/>
            <a:chOff x="0" y="0"/>
            <a:chExt cx="6632448" cy="1853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35" r="0" b="-197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6632448" cy="1948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8DA9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Join Census ACS income data by census tract → equity-adjusted adoption maps revealing socioeconomic distribution patterns.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94447" y="2334511"/>
            <a:ext cx="5535673" cy="2316985"/>
            <a:chOff x="0" y="0"/>
            <a:chExt cx="7380897" cy="30893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7363968" cy="3072384"/>
            </a:xfrm>
            <a:custGeom>
              <a:avLst/>
              <a:gdLst/>
              <a:ahLst/>
              <a:cxnLst/>
              <a:rect r="r" b="b" t="t" l="l"/>
              <a:pathLst>
                <a:path h="307238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3072384"/>
                  </a:lnTo>
                  <a:lnTo>
                    <a:pt x="0" y="3072384"/>
                  </a:lnTo>
                  <a:close/>
                </a:path>
              </a:pathLst>
            </a:custGeom>
            <a:solidFill>
              <a:srgbClr val="202F5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80986" cy="3089402"/>
            </a:xfrm>
            <a:custGeom>
              <a:avLst/>
              <a:gdLst/>
              <a:ahLst/>
              <a:cxnLst/>
              <a:rect r="r" b="b" t="t" l="l"/>
              <a:pathLst>
                <a:path h="3089402" w="7380986">
                  <a:moveTo>
                    <a:pt x="8509" y="0"/>
                  </a:moveTo>
                  <a:lnTo>
                    <a:pt x="7372477" y="0"/>
                  </a:lnTo>
                  <a:cubicBezTo>
                    <a:pt x="7377176" y="0"/>
                    <a:pt x="7380986" y="3810"/>
                    <a:pt x="7380986" y="8509"/>
                  </a:cubicBezTo>
                  <a:lnTo>
                    <a:pt x="7380986" y="3080893"/>
                  </a:lnTo>
                  <a:cubicBezTo>
                    <a:pt x="7380986" y="3085592"/>
                    <a:pt x="7377176" y="3089402"/>
                    <a:pt x="7372477" y="3089402"/>
                  </a:cubicBezTo>
                  <a:lnTo>
                    <a:pt x="8509" y="3089402"/>
                  </a:lnTo>
                  <a:cubicBezTo>
                    <a:pt x="3810" y="3089402"/>
                    <a:pt x="0" y="3085592"/>
                    <a:pt x="0" y="30808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080893"/>
                  </a:lnTo>
                  <a:lnTo>
                    <a:pt x="8509" y="3080893"/>
                  </a:lnTo>
                  <a:lnTo>
                    <a:pt x="8509" y="3072384"/>
                  </a:lnTo>
                  <a:lnTo>
                    <a:pt x="7372477" y="3072384"/>
                  </a:lnTo>
                  <a:lnTo>
                    <a:pt x="7372477" y="3080893"/>
                  </a:lnTo>
                  <a:lnTo>
                    <a:pt x="7363968" y="3080893"/>
                  </a:lnTo>
                  <a:lnTo>
                    <a:pt x="7363968" y="8509"/>
                  </a:lnTo>
                  <a:lnTo>
                    <a:pt x="7372477" y="8509"/>
                  </a:lnTo>
                  <a:lnTo>
                    <a:pt x="737247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407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00800" y="2340864"/>
            <a:ext cx="5522976" cy="109728"/>
            <a:chOff x="0" y="0"/>
            <a:chExt cx="7363968" cy="1463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63968" cy="146304"/>
            </a:xfrm>
            <a:custGeom>
              <a:avLst/>
              <a:gdLst/>
              <a:ahLst/>
              <a:cxnLst/>
              <a:rect r="r" b="b" t="t" l="l"/>
              <a:pathLst>
                <a:path h="14630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75120" y="2523744"/>
            <a:ext cx="4974336" cy="548640"/>
            <a:chOff x="0" y="0"/>
            <a:chExt cx="6632448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32448" cy="731520"/>
            </a:xfrm>
            <a:custGeom>
              <a:avLst/>
              <a:gdLst/>
              <a:ahLst/>
              <a:cxnLst/>
              <a:rect r="r" b="b" t="t" l="l"/>
              <a:pathLst>
                <a:path h="73152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6324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ARIMA / Prophet Forecasting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75120" y="3145536"/>
            <a:ext cx="4974336" cy="1389888"/>
            <a:chOff x="0" y="0"/>
            <a:chExt cx="6632448" cy="18531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35" r="0" b="-197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6632448" cy="1948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8DA9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Time-series models on monthly registration counts → 2027–2030 adoption projections for infrastructure capacity planning.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155167" y="2334511"/>
            <a:ext cx="5535673" cy="2316985"/>
            <a:chOff x="0" y="0"/>
            <a:chExt cx="7380897" cy="308931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8509"/>
              <a:ext cx="7363968" cy="3072384"/>
            </a:xfrm>
            <a:custGeom>
              <a:avLst/>
              <a:gdLst/>
              <a:ahLst/>
              <a:cxnLst/>
              <a:rect r="r" b="b" t="t" l="l"/>
              <a:pathLst>
                <a:path h="307238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3072384"/>
                  </a:lnTo>
                  <a:lnTo>
                    <a:pt x="0" y="3072384"/>
                  </a:lnTo>
                  <a:close/>
                </a:path>
              </a:pathLst>
            </a:custGeom>
            <a:solidFill>
              <a:srgbClr val="202F5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80986" cy="3089402"/>
            </a:xfrm>
            <a:custGeom>
              <a:avLst/>
              <a:gdLst/>
              <a:ahLst/>
              <a:cxnLst/>
              <a:rect r="r" b="b" t="t" l="l"/>
              <a:pathLst>
                <a:path h="3089402" w="7380986">
                  <a:moveTo>
                    <a:pt x="8509" y="0"/>
                  </a:moveTo>
                  <a:lnTo>
                    <a:pt x="7372477" y="0"/>
                  </a:lnTo>
                  <a:cubicBezTo>
                    <a:pt x="7377176" y="0"/>
                    <a:pt x="7380986" y="3810"/>
                    <a:pt x="7380986" y="8509"/>
                  </a:cubicBezTo>
                  <a:lnTo>
                    <a:pt x="7380986" y="3080893"/>
                  </a:lnTo>
                  <a:cubicBezTo>
                    <a:pt x="7380986" y="3085592"/>
                    <a:pt x="7377176" y="3089402"/>
                    <a:pt x="7372477" y="3089402"/>
                  </a:cubicBezTo>
                  <a:lnTo>
                    <a:pt x="8509" y="3089402"/>
                  </a:lnTo>
                  <a:cubicBezTo>
                    <a:pt x="3810" y="3089402"/>
                    <a:pt x="0" y="3085592"/>
                    <a:pt x="0" y="30808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080893"/>
                  </a:lnTo>
                  <a:lnTo>
                    <a:pt x="8509" y="3080893"/>
                  </a:lnTo>
                  <a:lnTo>
                    <a:pt x="8509" y="3072384"/>
                  </a:lnTo>
                  <a:lnTo>
                    <a:pt x="7372477" y="3072384"/>
                  </a:lnTo>
                  <a:lnTo>
                    <a:pt x="7372477" y="3080893"/>
                  </a:lnTo>
                  <a:lnTo>
                    <a:pt x="7363968" y="3080893"/>
                  </a:lnTo>
                  <a:lnTo>
                    <a:pt x="7363968" y="8509"/>
                  </a:lnTo>
                  <a:lnTo>
                    <a:pt x="7372477" y="8509"/>
                  </a:lnTo>
                  <a:lnTo>
                    <a:pt x="737247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407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161520" y="2340864"/>
            <a:ext cx="5522976" cy="109728"/>
            <a:chOff x="0" y="0"/>
            <a:chExt cx="7363968" cy="1463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63968" cy="146304"/>
            </a:xfrm>
            <a:custGeom>
              <a:avLst/>
              <a:gdLst/>
              <a:ahLst/>
              <a:cxnLst/>
              <a:rect r="r" b="b" t="t" l="l"/>
              <a:pathLst>
                <a:path h="14630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435840" y="2523744"/>
            <a:ext cx="4974336" cy="548640"/>
            <a:chOff x="0" y="0"/>
            <a:chExt cx="6632448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32448" cy="731520"/>
            </a:xfrm>
            <a:custGeom>
              <a:avLst/>
              <a:gdLst/>
              <a:ahLst/>
              <a:cxnLst/>
              <a:rect r="r" b="b" t="t" l="l"/>
              <a:pathLst>
                <a:path h="73152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6324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Charging Gap Analysis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435840" y="3145536"/>
            <a:ext cx="4974336" cy="1389888"/>
            <a:chOff x="0" y="0"/>
            <a:chExt cx="6632448" cy="18531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35" r="0" b="-197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6632448" cy="1948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8DA9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Overlay AFDC public charger locations with registration density → identify under-served corridors, prioritise new deployments.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33727" y="4858255"/>
            <a:ext cx="5535673" cy="2316985"/>
            <a:chOff x="0" y="0"/>
            <a:chExt cx="7380897" cy="308931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8509" y="8509"/>
              <a:ext cx="7363968" cy="3072384"/>
            </a:xfrm>
            <a:custGeom>
              <a:avLst/>
              <a:gdLst/>
              <a:ahLst/>
              <a:cxnLst/>
              <a:rect r="r" b="b" t="t" l="l"/>
              <a:pathLst>
                <a:path h="307238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3072384"/>
                  </a:lnTo>
                  <a:lnTo>
                    <a:pt x="0" y="3072384"/>
                  </a:lnTo>
                  <a:close/>
                </a:path>
              </a:pathLst>
            </a:custGeom>
            <a:solidFill>
              <a:srgbClr val="202F52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80986" cy="3089402"/>
            </a:xfrm>
            <a:custGeom>
              <a:avLst/>
              <a:gdLst/>
              <a:ahLst/>
              <a:cxnLst/>
              <a:rect r="r" b="b" t="t" l="l"/>
              <a:pathLst>
                <a:path h="3089402" w="7380986">
                  <a:moveTo>
                    <a:pt x="8509" y="0"/>
                  </a:moveTo>
                  <a:lnTo>
                    <a:pt x="7372477" y="0"/>
                  </a:lnTo>
                  <a:cubicBezTo>
                    <a:pt x="7377176" y="0"/>
                    <a:pt x="7380986" y="3810"/>
                    <a:pt x="7380986" y="8509"/>
                  </a:cubicBezTo>
                  <a:lnTo>
                    <a:pt x="7380986" y="3080893"/>
                  </a:lnTo>
                  <a:cubicBezTo>
                    <a:pt x="7380986" y="3085592"/>
                    <a:pt x="7377176" y="3089402"/>
                    <a:pt x="7372477" y="3089402"/>
                  </a:cubicBezTo>
                  <a:lnTo>
                    <a:pt x="8509" y="3089402"/>
                  </a:lnTo>
                  <a:cubicBezTo>
                    <a:pt x="3810" y="3089402"/>
                    <a:pt x="0" y="3085592"/>
                    <a:pt x="0" y="30808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080893"/>
                  </a:lnTo>
                  <a:lnTo>
                    <a:pt x="8509" y="3080893"/>
                  </a:lnTo>
                  <a:lnTo>
                    <a:pt x="8509" y="3072384"/>
                  </a:lnTo>
                  <a:lnTo>
                    <a:pt x="7372477" y="3072384"/>
                  </a:lnTo>
                  <a:lnTo>
                    <a:pt x="7372477" y="3080893"/>
                  </a:lnTo>
                  <a:lnTo>
                    <a:pt x="7363968" y="3080893"/>
                  </a:lnTo>
                  <a:lnTo>
                    <a:pt x="7363968" y="8509"/>
                  </a:lnTo>
                  <a:lnTo>
                    <a:pt x="7372477" y="8509"/>
                  </a:lnTo>
                  <a:lnTo>
                    <a:pt x="737247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407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40080" y="4864608"/>
            <a:ext cx="5522976" cy="109728"/>
            <a:chOff x="0" y="0"/>
            <a:chExt cx="7363968" cy="1463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63968" cy="146304"/>
            </a:xfrm>
            <a:custGeom>
              <a:avLst/>
              <a:gdLst/>
              <a:ahLst/>
              <a:cxnLst/>
              <a:rect r="r" b="b" t="t" l="l"/>
              <a:pathLst>
                <a:path h="14630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5047488"/>
            <a:ext cx="4974336" cy="548640"/>
            <a:chOff x="0" y="0"/>
            <a:chExt cx="6632448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32448" cy="731520"/>
            </a:xfrm>
            <a:custGeom>
              <a:avLst/>
              <a:gdLst/>
              <a:ahLst/>
              <a:cxnLst/>
              <a:rect r="r" b="b" t="t" l="l"/>
              <a:pathLst>
                <a:path h="73152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6324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Panel Data Tracking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" y="5669280"/>
            <a:ext cx="4974336" cy="1389888"/>
            <a:chOff x="0" y="0"/>
            <a:chExt cx="6632448" cy="18531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35" r="0" b="-1973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0"/>
              <a:ext cx="6632448" cy="1948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8DA9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Request historical DOL snapshots → analyse deregistration rates, fleet turnover, and actual vehicle lifecycle patterns.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394447" y="4858255"/>
            <a:ext cx="5535673" cy="2316985"/>
            <a:chOff x="0" y="0"/>
            <a:chExt cx="7380897" cy="308931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8509" y="8509"/>
              <a:ext cx="7363968" cy="3072384"/>
            </a:xfrm>
            <a:custGeom>
              <a:avLst/>
              <a:gdLst/>
              <a:ahLst/>
              <a:cxnLst/>
              <a:rect r="r" b="b" t="t" l="l"/>
              <a:pathLst>
                <a:path h="307238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3072384"/>
                  </a:lnTo>
                  <a:lnTo>
                    <a:pt x="0" y="3072384"/>
                  </a:lnTo>
                  <a:close/>
                </a:path>
              </a:pathLst>
            </a:custGeom>
            <a:solidFill>
              <a:srgbClr val="202F5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80986" cy="3089402"/>
            </a:xfrm>
            <a:custGeom>
              <a:avLst/>
              <a:gdLst/>
              <a:ahLst/>
              <a:cxnLst/>
              <a:rect r="r" b="b" t="t" l="l"/>
              <a:pathLst>
                <a:path h="3089402" w="7380986">
                  <a:moveTo>
                    <a:pt x="8509" y="0"/>
                  </a:moveTo>
                  <a:lnTo>
                    <a:pt x="7372477" y="0"/>
                  </a:lnTo>
                  <a:cubicBezTo>
                    <a:pt x="7377176" y="0"/>
                    <a:pt x="7380986" y="3810"/>
                    <a:pt x="7380986" y="8509"/>
                  </a:cubicBezTo>
                  <a:lnTo>
                    <a:pt x="7380986" y="3080893"/>
                  </a:lnTo>
                  <a:cubicBezTo>
                    <a:pt x="7380986" y="3085592"/>
                    <a:pt x="7377176" y="3089402"/>
                    <a:pt x="7372477" y="3089402"/>
                  </a:cubicBezTo>
                  <a:lnTo>
                    <a:pt x="8509" y="3089402"/>
                  </a:lnTo>
                  <a:cubicBezTo>
                    <a:pt x="3810" y="3089402"/>
                    <a:pt x="0" y="3085592"/>
                    <a:pt x="0" y="30808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080893"/>
                  </a:lnTo>
                  <a:lnTo>
                    <a:pt x="8509" y="3080893"/>
                  </a:lnTo>
                  <a:lnTo>
                    <a:pt x="8509" y="3072384"/>
                  </a:lnTo>
                  <a:lnTo>
                    <a:pt x="7372477" y="3072384"/>
                  </a:lnTo>
                  <a:lnTo>
                    <a:pt x="7372477" y="3080893"/>
                  </a:lnTo>
                  <a:lnTo>
                    <a:pt x="7363968" y="3080893"/>
                  </a:lnTo>
                  <a:lnTo>
                    <a:pt x="7363968" y="8509"/>
                  </a:lnTo>
                  <a:lnTo>
                    <a:pt x="7372477" y="8509"/>
                  </a:lnTo>
                  <a:lnTo>
                    <a:pt x="737247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407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400800" y="4864608"/>
            <a:ext cx="5522976" cy="109728"/>
            <a:chOff x="0" y="0"/>
            <a:chExt cx="7363968" cy="1463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63968" cy="146304"/>
            </a:xfrm>
            <a:custGeom>
              <a:avLst/>
              <a:gdLst/>
              <a:ahLst/>
              <a:cxnLst/>
              <a:rect r="r" b="b" t="t" l="l"/>
              <a:pathLst>
                <a:path h="14630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675120" y="5047488"/>
            <a:ext cx="4974336" cy="548640"/>
            <a:chOff x="0" y="0"/>
            <a:chExt cx="6632448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632448" cy="731520"/>
            </a:xfrm>
            <a:custGeom>
              <a:avLst/>
              <a:gdLst/>
              <a:ahLst/>
              <a:cxnLst/>
              <a:rect r="r" b="b" t="t" l="l"/>
              <a:pathLst>
                <a:path h="73152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6324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Grid Capacity Stress-Test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675120" y="5669280"/>
            <a:ext cx="4974336" cy="1389888"/>
            <a:chOff x="0" y="0"/>
            <a:chExt cx="6632448" cy="1853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632448" cy="1853184"/>
            </a:xfrm>
            <a:custGeom>
              <a:avLst/>
              <a:gdLst/>
              <a:ahLst/>
              <a:cxnLst/>
              <a:rect r="r" b="b" t="t" l="l"/>
              <a:pathLst>
                <a:path h="1853184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35" r="0" b="-1973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0"/>
              <a:ext cx="6632448" cy="1948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2"/>
                </a:lnSpc>
              </a:pPr>
              <a:r>
                <a:rPr lang="en-US" sz="1700">
                  <a:solidFill>
                    <a:srgbClr val="8DA9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 Utility_Complexity_Score with utility published capacity data → infrastructure stress-testing per county.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30555" y="7708011"/>
            <a:ext cx="17301210" cy="2067306"/>
            <a:chOff x="0" y="0"/>
            <a:chExt cx="23068280" cy="275640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23042880" cy="2731008"/>
            </a:xfrm>
            <a:custGeom>
              <a:avLst/>
              <a:gdLst/>
              <a:ahLst/>
              <a:cxnLst/>
              <a:rect r="r" b="b" t="t" l="l"/>
              <a:pathLst>
                <a:path h="2731008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0F1E3A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068280" cy="2756408"/>
            </a:xfrm>
            <a:custGeom>
              <a:avLst/>
              <a:gdLst/>
              <a:ahLst/>
              <a:cxnLst/>
              <a:rect r="r" b="b" t="t" l="l"/>
              <a:pathLst>
                <a:path h="2756408" w="23068280">
                  <a:moveTo>
                    <a:pt x="12700" y="0"/>
                  </a:moveTo>
                  <a:lnTo>
                    <a:pt x="23055580" y="0"/>
                  </a:lnTo>
                  <a:cubicBezTo>
                    <a:pt x="23062566" y="0"/>
                    <a:pt x="23068280" y="5715"/>
                    <a:pt x="23068280" y="12700"/>
                  </a:cubicBezTo>
                  <a:lnTo>
                    <a:pt x="23068280" y="2743708"/>
                  </a:lnTo>
                  <a:cubicBezTo>
                    <a:pt x="23068280" y="2750693"/>
                    <a:pt x="23062566" y="2756408"/>
                    <a:pt x="23055580" y="2756408"/>
                  </a:cubicBezTo>
                  <a:lnTo>
                    <a:pt x="12700" y="2756408"/>
                  </a:lnTo>
                  <a:cubicBezTo>
                    <a:pt x="5715" y="2756408"/>
                    <a:pt x="0" y="2750693"/>
                    <a:pt x="0" y="274370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743708"/>
                  </a:lnTo>
                  <a:lnTo>
                    <a:pt x="12700" y="2743708"/>
                  </a:lnTo>
                  <a:lnTo>
                    <a:pt x="12700" y="2731008"/>
                  </a:lnTo>
                  <a:lnTo>
                    <a:pt x="23055580" y="2731008"/>
                  </a:lnTo>
                  <a:lnTo>
                    <a:pt x="23055580" y="2743708"/>
                  </a:lnTo>
                  <a:lnTo>
                    <a:pt x="23042880" y="2743708"/>
                  </a:lnTo>
                  <a:lnTo>
                    <a:pt x="23042880" y="12700"/>
                  </a:lnTo>
                  <a:lnTo>
                    <a:pt x="23055580" y="12700"/>
                  </a:lnTo>
                  <a:lnTo>
                    <a:pt x="23055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EA5A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05840" y="7863840"/>
            <a:ext cx="4572000" cy="438912"/>
            <a:chOff x="0" y="0"/>
            <a:chExt cx="6096000" cy="5852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60960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0EA5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CLOSING SUMMARY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05840" y="8375904"/>
            <a:ext cx="16550640" cy="1243584"/>
            <a:chOff x="0" y="0"/>
            <a:chExt cx="22067520" cy="16581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0675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22067520">
                  <a:moveTo>
                    <a:pt x="0" y="0"/>
                  </a:moveTo>
                  <a:lnTo>
                    <a:pt x="22067520" y="0"/>
                  </a:lnTo>
                  <a:lnTo>
                    <a:pt x="220675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322" r="0" b="-20932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14300"/>
              <a:ext cx="22067520" cy="1772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1800">
                  <a:solidFill>
                    <a:srgbClr val="C8D8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capstone delivered a production-grade analytics framework on 280,813 EV registrations — a 5-stage ETL pipeline, 9 engineered features, 3 validated statistical tests (Pearson r, T-Test, ANOVA), and 3 interactive Tableau dashboards. Core finding: Washington State's EV transition has crossed its tipping point. Equitable adoption now requires targeted charging infrastructure in growth counties, mass-market incentive reform, and proactive rural grid coordination before demand arrives.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40080" y="9930384"/>
            <a:ext cx="17282160" cy="329184"/>
            <a:chOff x="0" y="0"/>
            <a:chExt cx="23042880" cy="43891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3042880" cy="438912"/>
            </a:xfrm>
            <a:custGeom>
              <a:avLst/>
              <a:gdLst/>
              <a:ahLst/>
              <a:cxnLst/>
              <a:rect r="r" b="b" t="t" l="l"/>
              <a:pathLst>
                <a:path h="438912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2964" r="0" b="-97296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30428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C · Group 6 · Newton School of Technology · DVA Capstone 2 · April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DAHIQJgwSVo</dc:identifier>
  <dcterms:modified xsi:type="dcterms:W3CDTF">2011-08-01T06:04:30Z</dcterms:modified>
  <cp:revision>1</cp:revision>
  <dc:title>G-6 (DVA 2.0)</dc:title>
</cp:coreProperties>
</file>